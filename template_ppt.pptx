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7556500" cy="10693400"/>
  <p:notesSz cx="6858000" cy="9144000"/>
  <p:embeddedFontLst>
    <p:embeddedFont>
      <p:font typeface="Mortend Bold" charset="1" panose="00000000000000000000"/>
      <p:regular r:id="rId25"/>
    </p:embeddedFont>
    <p:embeddedFont>
      <p:font typeface="Oxanium" charset="1" panose="02000503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1511" t="-4099" r="-1511" b="-4099"/>
            </a:stretch>
          </a:blipFill>
        </p:spPr>
      </p:sp>
      <p:sp>
        <p:nvSpPr>
          <p:cNvPr name="Freeform 3" id="3"/>
          <p:cNvSpPr/>
          <p:nvPr/>
        </p:nvSpPr>
        <p:spPr>
          <a:xfrm flipH="false" flipV="false" rot="0">
            <a:off x="1099298" y="756000"/>
            <a:ext cx="1197187" cy="225833"/>
          </a:xfrm>
          <a:custGeom>
            <a:avLst/>
            <a:gdLst/>
            <a:ahLst/>
            <a:cxnLst/>
            <a:rect r="r" b="b" t="t" l="l"/>
            <a:pathLst>
              <a:path h="225833" w="1197187">
                <a:moveTo>
                  <a:pt x="0" y="0"/>
                </a:moveTo>
                <a:lnTo>
                  <a:pt x="1197187" y="0"/>
                </a:lnTo>
                <a:lnTo>
                  <a:pt x="1197187" y="225833"/>
                </a:lnTo>
                <a:lnTo>
                  <a:pt x="0" y="225833"/>
                </a:lnTo>
                <a:lnTo>
                  <a:pt x="0" y="0"/>
                </a:lnTo>
                <a:close/>
              </a:path>
            </a:pathLst>
          </a:custGeom>
          <a:blipFill>
            <a:blip r:embed="rId3"/>
            <a:stretch>
              <a:fillRect l="0" t="0" r="0" b="0"/>
            </a:stretch>
          </a:blipFill>
        </p:spPr>
      </p:sp>
      <p:sp>
        <p:nvSpPr>
          <p:cNvPr name="Freeform 4" id="4"/>
          <p:cNvSpPr/>
          <p:nvPr/>
        </p:nvSpPr>
        <p:spPr>
          <a:xfrm flipH="false" flipV="false" rot="0">
            <a:off x="2548199" y="756000"/>
            <a:ext cx="519156" cy="225833"/>
          </a:xfrm>
          <a:custGeom>
            <a:avLst/>
            <a:gdLst/>
            <a:ahLst/>
            <a:cxnLst/>
            <a:rect r="r" b="b" t="t" l="l"/>
            <a:pathLst>
              <a:path h="225833" w="519156">
                <a:moveTo>
                  <a:pt x="0" y="0"/>
                </a:moveTo>
                <a:lnTo>
                  <a:pt x="519156" y="0"/>
                </a:lnTo>
                <a:lnTo>
                  <a:pt x="519156" y="225833"/>
                </a:lnTo>
                <a:lnTo>
                  <a:pt x="0" y="225833"/>
                </a:lnTo>
                <a:lnTo>
                  <a:pt x="0" y="0"/>
                </a:lnTo>
                <a:close/>
              </a:path>
            </a:pathLst>
          </a:custGeom>
          <a:blipFill>
            <a:blip r:embed="rId4"/>
            <a:stretch>
              <a:fillRect l="0" t="0" r="0" b="0"/>
            </a:stretch>
          </a:blipFill>
        </p:spPr>
      </p:sp>
      <p:sp>
        <p:nvSpPr>
          <p:cNvPr name="Freeform 5" id="5"/>
          <p:cNvSpPr/>
          <p:nvPr/>
        </p:nvSpPr>
        <p:spPr>
          <a:xfrm flipH="false" flipV="false" rot="0">
            <a:off x="3315005" y="756000"/>
            <a:ext cx="728085" cy="225833"/>
          </a:xfrm>
          <a:custGeom>
            <a:avLst/>
            <a:gdLst/>
            <a:ahLst/>
            <a:cxnLst/>
            <a:rect r="r" b="b" t="t" l="l"/>
            <a:pathLst>
              <a:path h="225833" w="728085">
                <a:moveTo>
                  <a:pt x="0" y="0"/>
                </a:moveTo>
                <a:lnTo>
                  <a:pt x="728086" y="0"/>
                </a:lnTo>
                <a:lnTo>
                  <a:pt x="728086" y="225833"/>
                </a:lnTo>
                <a:lnTo>
                  <a:pt x="0" y="225833"/>
                </a:lnTo>
                <a:lnTo>
                  <a:pt x="0" y="0"/>
                </a:lnTo>
                <a:close/>
              </a:path>
            </a:pathLst>
          </a:custGeom>
          <a:blipFill>
            <a:blip r:embed="rId5"/>
            <a:stretch>
              <a:fillRect l="0" t="0" r="0" b="0"/>
            </a:stretch>
          </a:blipFill>
        </p:spPr>
      </p:sp>
      <p:sp>
        <p:nvSpPr>
          <p:cNvPr name="Freeform 6" id="6"/>
          <p:cNvSpPr/>
          <p:nvPr/>
        </p:nvSpPr>
        <p:spPr>
          <a:xfrm flipH="false" flipV="false" rot="0">
            <a:off x="4290741" y="756000"/>
            <a:ext cx="422447" cy="225833"/>
          </a:xfrm>
          <a:custGeom>
            <a:avLst/>
            <a:gdLst/>
            <a:ahLst/>
            <a:cxnLst/>
            <a:rect r="r" b="b" t="t" l="l"/>
            <a:pathLst>
              <a:path h="225833" w="422447">
                <a:moveTo>
                  <a:pt x="0" y="0"/>
                </a:moveTo>
                <a:lnTo>
                  <a:pt x="422446" y="0"/>
                </a:lnTo>
                <a:lnTo>
                  <a:pt x="422446" y="225833"/>
                </a:lnTo>
                <a:lnTo>
                  <a:pt x="0" y="225833"/>
                </a:lnTo>
                <a:lnTo>
                  <a:pt x="0" y="0"/>
                </a:lnTo>
                <a:close/>
              </a:path>
            </a:pathLst>
          </a:custGeom>
          <a:blipFill>
            <a:blip r:embed="rId6"/>
            <a:stretch>
              <a:fillRect l="0" t="0" r="0" b="0"/>
            </a:stretch>
          </a:blipFill>
        </p:spPr>
      </p:sp>
      <p:sp>
        <p:nvSpPr>
          <p:cNvPr name="Freeform 7" id="7"/>
          <p:cNvSpPr/>
          <p:nvPr/>
        </p:nvSpPr>
        <p:spPr>
          <a:xfrm flipH="false" flipV="false" rot="0">
            <a:off x="4960837" y="756000"/>
            <a:ext cx="781729" cy="225833"/>
          </a:xfrm>
          <a:custGeom>
            <a:avLst/>
            <a:gdLst/>
            <a:ahLst/>
            <a:cxnLst/>
            <a:rect r="r" b="b" t="t" l="l"/>
            <a:pathLst>
              <a:path h="225833" w="781729">
                <a:moveTo>
                  <a:pt x="0" y="0"/>
                </a:moveTo>
                <a:lnTo>
                  <a:pt x="781730" y="0"/>
                </a:lnTo>
                <a:lnTo>
                  <a:pt x="781730" y="225833"/>
                </a:lnTo>
                <a:lnTo>
                  <a:pt x="0" y="225833"/>
                </a:lnTo>
                <a:lnTo>
                  <a:pt x="0" y="0"/>
                </a:lnTo>
                <a:close/>
              </a:path>
            </a:pathLst>
          </a:custGeom>
          <a:blipFill>
            <a:blip r:embed="rId7"/>
            <a:stretch>
              <a:fillRect l="0" t="0" r="0" b="0"/>
            </a:stretch>
          </a:blipFill>
        </p:spPr>
      </p:sp>
      <p:grpSp>
        <p:nvGrpSpPr>
          <p:cNvPr name="Group 8" id="8"/>
          <p:cNvGrpSpPr/>
          <p:nvPr/>
        </p:nvGrpSpPr>
        <p:grpSpPr>
          <a:xfrm rot="0">
            <a:off x="1222613" y="4693338"/>
            <a:ext cx="5114773" cy="652662"/>
            <a:chOff x="0" y="0"/>
            <a:chExt cx="6819698" cy="870217"/>
          </a:xfrm>
        </p:grpSpPr>
        <p:sp>
          <p:nvSpPr>
            <p:cNvPr name="Freeform 9" id="9"/>
            <p:cNvSpPr/>
            <p:nvPr/>
          </p:nvSpPr>
          <p:spPr>
            <a:xfrm flipH="false" flipV="false" rot="0">
              <a:off x="3255378" y="0"/>
              <a:ext cx="601698" cy="870217"/>
            </a:xfrm>
            <a:custGeom>
              <a:avLst/>
              <a:gdLst/>
              <a:ahLst/>
              <a:cxnLst/>
              <a:rect r="r" b="b" t="t" l="l"/>
              <a:pathLst>
                <a:path h="870217" w="601698">
                  <a:moveTo>
                    <a:pt x="0" y="0"/>
                  </a:moveTo>
                  <a:lnTo>
                    <a:pt x="601698" y="0"/>
                  </a:lnTo>
                  <a:lnTo>
                    <a:pt x="601698" y="870217"/>
                  </a:lnTo>
                  <a:lnTo>
                    <a:pt x="0" y="870217"/>
                  </a:lnTo>
                  <a:lnTo>
                    <a:pt x="0" y="0"/>
                  </a:lnTo>
                  <a:close/>
                </a:path>
              </a:pathLst>
            </a:custGeom>
            <a:blipFill>
              <a:blip r:embed="rId8"/>
              <a:stretch>
                <a:fillRect l="-611018" t="0" r="-592956" b="0"/>
              </a:stretch>
            </a:blipFill>
          </p:spPr>
        </p:sp>
        <p:sp>
          <p:nvSpPr>
            <p:cNvPr name="Freeform 10" id="10"/>
            <p:cNvSpPr/>
            <p:nvPr/>
          </p:nvSpPr>
          <p:spPr>
            <a:xfrm flipH="false" flipV="false" rot="0">
              <a:off x="3975127" y="84686"/>
              <a:ext cx="2844570" cy="700844"/>
            </a:xfrm>
            <a:custGeom>
              <a:avLst/>
              <a:gdLst/>
              <a:ahLst/>
              <a:cxnLst/>
              <a:rect r="r" b="b" t="t" l="l"/>
              <a:pathLst>
                <a:path h="700844" w="2844570">
                  <a:moveTo>
                    <a:pt x="0" y="0"/>
                  </a:moveTo>
                  <a:lnTo>
                    <a:pt x="2844571" y="0"/>
                  </a:lnTo>
                  <a:lnTo>
                    <a:pt x="2844571" y="700844"/>
                  </a:lnTo>
                  <a:lnTo>
                    <a:pt x="0" y="700844"/>
                  </a:lnTo>
                  <a:lnTo>
                    <a:pt x="0" y="0"/>
                  </a:lnTo>
                  <a:close/>
                </a:path>
              </a:pathLst>
            </a:custGeom>
            <a:blipFill>
              <a:blip r:embed="rId8"/>
              <a:stretch>
                <a:fillRect l="0" t="0" r="-122138" b="0"/>
              </a:stretch>
            </a:blipFill>
          </p:spPr>
        </p:sp>
        <p:sp>
          <p:nvSpPr>
            <p:cNvPr name="Freeform 11" id="11"/>
            <p:cNvSpPr/>
            <p:nvPr/>
          </p:nvSpPr>
          <p:spPr>
            <a:xfrm flipH="false" flipV="false" rot="0">
              <a:off x="0" y="0"/>
              <a:ext cx="3135922" cy="812019"/>
            </a:xfrm>
            <a:custGeom>
              <a:avLst/>
              <a:gdLst/>
              <a:ahLst/>
              <a:cxnLst/>
              <a:rect r="r" b="b" t="t" l="l"/>
              <a:pathLst>
                <a:path h="812019" w="3135922">
                  <a:moveTo>
                    <a:pt x="0" y="0"/>
                  </a:moveTo>
                  <a:lnTo>
                    <a:pt x="3135922" y="0"/>
                  </a:lnTo>
                  <a:lnTo>
                    <a:pt x="3135922" y="812019"/>
                  </a:lnTo>
                  <a:lnTo>
                    <a:pt x="0" y="812019"/>
                  </a:lnTo>
                  <a:lnTo>
                    <a:pt x="0" y="0"/>
                  </a:lnTo>
                  <a:close/>
                </a:path>
              </a:pathLst>
            </a:custGeom>
            <a:blipFill>
              <a:blip r:embed="rId8"/>
              <a:stretch>
                <a:fillRect l="-132337" t="0" r="-1127" b="0"/>
              </a:stretch>
            </a:blipFill>
          </p:spPr>
        </p:sp>
      </p:grpSp>
      <p:sp>
        <p:nvSpPr>
          <p:cNvPr name="Freeform 12" id="12"/>
          <p:cNvSpPr/>
          <p:nvPr/>
        </p:nvSpPr>
        <p:spPr>
          <a:xfrm flipH="false" flipV="false" rot="0">
            <a:off x="5990217" y="756000"/>
            <a:ext cx="470485" cy="225833"/>
          </a:xfrm>
          <a:custGeom>
            <a:avLst/>
            <a:gdLst/>
            <a:ahLst/>
            <a:cxnLst/>
            <a:rect r="r" b="b" t="t" l="l"/>
            <a:pathLst>
              <a:path h="225833" w="470485">
                <a:moveTo>
                  <a:pt x="0" y="0"/>
                </a:moveTo>
                <a:lnTo>
                  <a:pt x="470485" y="0"/>
                </a:lnTo>
                <a:lnTo>
                  <a:pt x="470485" y="225833"/>
                </a:lnTo>
                <a:lnTo>
                  <a:pt x="0" y="225833"/>
                </a:lnTo>
                <a:lnTo>
                  <a:pt x="0" y="0"/>
                </a:lnTo>
                <a:close/>
              </a:path>
            </a:pathLst>
          </a:custGeom>
          <a:blipFill>
            <a:blip r:embed="rId9"/>
            <a:stretch>
              <a:fillRect l="0" t="0" r="0" b="0"/>
            </a:stretch>
          </a:blipFill>
        </p:spPr>
      </p:sp>
      <p:sp>
        <p:nvSpPr>
          <p:cNvPr name="TextBox 13" id="13"/>
          <p:cNvSpPr txBox="true"/>
          <p:nvPr/>
        </p:nvSpPr>
        <p:spPr>
          <a:xfrm rot="0">
            <a:off x="967645" y="2447859"/>
            <a:ext cx="5624711" cy="886114"/>
          </a:xfrm>
          <a:prstGeom prst="rect">
            <a:avLst/>
          </a:prstGeom>
        </p:spPr>
        <p:txBody>
          <a:bodyPr anchor="t" rtlCol="false" tIns="0" lIns="0" bIns="0" rIns="0">
            <a:spAutoFit/>
          </a:bodyPr>
          <a:lstStyle/>
          <a:p>
            <a:pPr algn="ctr">
              <a:lnSpc>
                <a:spcPts val="6809"/>
              </a:lnSpc>
            </a:pPr>
            <a:r>
              <a:rPr lang="en-US" sz="4863">
                <a:solidFill>
                  <a:srgbClr val="D9EEF6"/>
                </a:solidFill>
                <a:latin typeface="Mortend Bold"/>
                <a:ea typeface="Mortend Bold"/>
                <a:cs typeface="Mortend Bold"/>
                <a:sym typeface="Mortend Bold"/>
              </a:rPr>
              <a:t>proposal</a:t>
            </a:r>
          </a:p>
        </p:txBody>
      </p:sp>
      <p:sp>
        <p:nvSpPr>
          <p:cNvPr name="TextBox 14" id="14"/>
          <p:cNvSpPr txBox="true"/>
          <p:nvPr/>
        </p:nvSpPr>
        <p:spPr>
          <a:xfrm rot="0">
            <a:off x="967645" y="2222434"/>
            <a:ext cx="5602199" cy="377825"/>
          </a:xfrm>
          <a:prstGeom prst="rect">
            <a:avLst/>
          </a:prstGeom>
        </p:spPr>
        <p:txBody>
          <a:bodyPr anchor="t" rtlCol="false" tIns="0" lIns="0" bIns="0" rIns="0">
            <a:spAutoFit/>
          </a:bodyPr>
          <a:lstStyle/>
          <a:p>
            <a:pPr algn="ctr">
              <a:lnSpc>
                <a:spcPts val="2800"/>
              </a:lnSpc>
            </a:pPr>
            <a:r>
              <a:rPr lang="en-US" sz="2000">
                <a:solidFill>
                  <a:srgbClr val="D9EEF6"/>
                </a:solidFill>
                <a:latin typeface="Mortend Bold"/>
                <a:ea typeface="Mortend Bold"/>
                <a:cs typeface="Mortend Bold"/>
                <a:sym typeface="Mortend Bold"/>
              </a:rPr>
              <a:t>1st submission</a:t>
            </a:r>
          </a:p>
        </p:txBody>
      </p:sp>
      <p:sp>
        <p:nvSpPr>
          <p:cNvPr name="TextBox 15" id="15"/>
          <p:cNvSpPr txBox="true"/>
          <p:nvPr/>
        </p:nvSpPr>
        <p:spPr>
          <a:xfrm rot="0">
            <a:off x="1098134" y="8381441"/>
            <a:ext cx="5341220" cy="987425"/>
          </a:xfrm>
          <a:prstGeom prst="rect">
            <a:avLst/>
          </a:prstGeom>
        </p:spPr>
        <p:txBody>
          <a:bodyPr anchor="t" rtlCol="false" tIns="0" lIns="0" bIns="0" rIns="0">
            <a:spAutoFit/>
          </a:bodyPr>
          <a:lstStyle/>
          <a:p>
            <a:pPr algn="ctr">
              <a:lnSpc>
                <a:spcPts val="2499"/>
              </a:lnSpc>
            </a:pPr>
            <a:r>
              <a:rPr lang="en-US" sz="2499">
                <a:solidFill>
                  <a:srgbClr val="E6EBF4"/>
                </a:solidFill>
                <a:latin typeface="Mortend Bold"/>
                <a:ea typeface="Mortend Bold"/>
                <a:cs typeface="Mortend Bold"/>
                <a:sym typeface="Mortend Bold"/>
              </a:rPr>
              <a:t>pusat inovasi </a:t>
            </a:r>
          </a:p>
          <a:p>
            <a:pPr algn="ctr">
              <a:lnSpc>
                <a:spcPts val="2499"/>
              </a:lnSpc>
            </a:pPr>
            <a:r>
              <a:rPr lang="en-US" sz="2499">
                <a:solidFill>
                  <a:srgbClr val="E6EBF4"/>
                </a:solidFill>
                <a:latin typeface="Mortend Bold"/>
                <a:ea typeface="Mortend Bold"/>
                <a:cs typeface="Mortend Bold"/>
                <a:sym typeface="Mortend Bold"/>
              </a:rPr>
              <a:t>digital indonesia</a:t>
            </a:r>
          </a:p>
          <a:p>
            <a:pPr algn="ctr">
              <a:lnSpc>
                <a:spcPts val="2499"/>
              </a:lnSpc>
            </a:pPr>
            <a:r>
              <a:rPr lang="en-US" sz="2499">
                <a:solidFill>
                  <a:srgbClr val="E6EBF4"/>
                </a:solidFill>
                <a:latin typeface="Mortend Bold"/>
                <a:ea typeface="Mortend Bold"/>
                <a:cs typeface="Mortend Bold"/>
                <a:sym typeface="Mortend Bold"/>
              </a:rPr>
              <a:t>2026</a:t>
            </a:r>
          </a:p>
        </p:txBody>
      </p:sp>
      <p:sp>
        <p:nvSpPr>
          <p:cNvPr name="TextBox 16" id="16"/>
          <p:cNvSpPr txBox="true"/>
          <p:nvPr/>
        </p:nvSpPr>
        <p:spPr>
          <a:xfrm rot="0">
            <a:off x="1098134" y="5555342"/>
            <a:ext cx="5341220" cy="419100"/>
          </a:xfrm>
          <a:prstGeom prst="rect">
            <a:avLst/>
          </a:prstGeom>
        </p:spPr>
        <p:txBody>
          <a:bodyPr anchor="t" rtlCol="false" tIns="0" lIns="0" bIns="0" rIns="0">
            <a:spAutoFit/>
          </a:bodyPr>
          <a:lstStyle/>
          <a:p>
            <a:pPr algn="ctr">
              <a:lnSpc>
                <a:spcPts val="1500"/>
              </a:lnSpc>
            </a:pPr>
            <a:r>
              <a:rPr lang="en-US" sz="1500">
                <a:solidFill>
                  <a:srgbClr val="E6EBF4"/>
                </a:solidFill>
                <a:latin typeface="Mortend Bold"/>
                <a:ea typeface="Mortend Bold"/>
                <a:cs typeface="Mortend Bold"/>
                <a:sym typeface="Mortend Bold"/>
              </a:rPr>
              <a:t>berinovasi untuk masa depan,</a:t>
            </a:r>
          </a:p>
          <a:p>
            <a:pPr algn="ctr">
              <a:lnSpc>
                <a:spcPts val="1500"/>
              </a:lnSpc>
            </a:pPr>
            <a:r>
              <a:rPr lang="en-US" sz="1500">
                <a:solidFill>
                  <a:srgbClr val="E6EBF4"/>
                </a:solidFill>
                <a:latin typeface="Mortend Bold"/>
                <a:ea typeface="Mortend Bold"/>
                <a:cs typeface="Mortend Bold"/>
                <a:sym typeface="Mortend Bold"/>
              </a:rPr>
              <a:t>memberdayakan talenta digital</a:t>
            </a:r>
          </a:p>
        </p:txBody>
      </p:sp>
    </p:spTree>
  </p:cSld>
  <p:clrMapOvr>
    <a:masterClrMapping/>
  </p:clrMapOvr>
</p:sld>
</file>

<file path=ppt/slides/slide2.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756000" y="728703"/>
            <a:ext cx="6048000" cy="889000"/>
          </a:xfrm>
          <a:prstGeom prst="rect">
            <a:avLst/>
          </a:prstGeom>
        </p:spPr>
        <p:txBody>
          <a:bodyPr anchor="t" rtlCol="false" tIns="0" lIns="0" bIns="0" rIns="0">
            <a:spAutoFit/>
          </a:bodyPr>
          <a:lstStyle/>
          <a:p>
            <a:pPr algn="ctr">
              <a:lnSpc>
                <a:spcPts val="3499"/>
              </a:lnSpc>
            </a:pPr>
            <a:r>
              <a:rPr lang="en-US" sz="2499">
                <a:solidFill>
                  <a:srgbClr val="1F4894"/>
                </a:solidFill>
                <a:latin typeface="Mortend Bold"/>
                <a:ea typeface="Mortend Bold"/>
                <a:cs typeface="Mortend Bold"/>
                <a:sym typeface="Mortend Bold"/>
              </a:rPr>
              <a:t>ketentuan penulisan proposal</a:t>
            </a:r>
          </a:p>
        </p:txBody>
      </p:sp>
      <p:sp>
        <p:nvSpPr>
          <p:cNvPr name="TextBox 3" id="3"/>
          <p:cNvSpPr txBox="true"/>
          <p:nvPr/>
        </p:nvSpPr>
        <p:spPr>
          <a:xfrm rot="0">
            <a:off x="756000" y="1858592"/>
            <a:ext cx="6048000" cy="7203440"/>
          </a:xfrm>
          <a:prstGeom prst="rect">
            <a:avLst/>
          </a:prstGeom>
        </p:spPr>
        <p:txBody>
          <a:bodyPr anchor="t" rtlCol="false" tIns="0" lIns="0" bIns="0" rIns="0">
            <a:spAutoFit/>
          </a:bodyPr>
          <a:lstStyle/>
          <a:p>
            <a:pPr algn="just" marL="302259" indent="-151129" lvl="1">
              <a:lnSpc>
                <a:spcPts val="1959"/>
              </a:lnSpc>
              <a:buFont typeface="Arial"/>
              <a:buChar char="•"/>
            </a:pPr>
            <a:r>
              <a:rPr lang="en-US" sz="1399">
                <a:solidFill>
                  <a:srgbClr val="0C2A52"/>
                </a:solidFill>
                <a:latin typeface="Oxanium"/>
                <a:ea typeface="Oxanium"/>
                <a:cs typeface="Oxanium"/>
                <a:sym typeface="Oxanium"/>
              </a:rPr>
              <a:t>Proposal wajib ditulis dalam Bahasa Indonesia yang jelas dan mudah dipahami.</a:t>
            </a:r>
          </a:p>
          <a:p>
            <a:pPr algn="just" marL="302259" indent="-151129" lvl="1">
              <a:lnSpc>
                <a:spcPts val="1959"/>
              </a:lnSpc>
              <a:buFont typeface="Arial"/>
              <a:buChar char="•"/>
            </a:pPr>
            <a:r>
              <a:rPr lang="en-US" sz="1399">
                <a:solidFill>
                  <a:srgbClr val="0C2A52"/>
                </a:solidFill>
                <a:latin typeface="Oxanium"/>
                <a:ea typeface="Oxanium"/>
                <a:cs typeface="Oxanium"/>
                <a:sym typeface="Oxanium"/>
              </a:rPr>
              <a:t>Gunakan bahasa yang formal, ringkas, dan langsung ke inti.</a:t>
            </a:r>
          </a:p>
          <a:p>
            <a:pPr algn="just" marL="302259" indent="-151129" lvl="1">
              <a:lnSpc>
                <a:spcPts val="1959"/>
              </a:lnSpc>
              <a:buFont typeface="Arial"/>
              <a:buChar char="•"/>
            </a:pPr>
            <a:r>
              <a:rPr lang="en-US" sz="1399">
                <a:solidFill>
                  <a:srgbClr val="0C2A52"/>
                </a:solidFill>
                <a:latin typeface="Oxanium"/>
                <a:ea typeface="Oxanium"/>
                <a:cs typeface="Oxanium"/>
                <a:sym typeface="Oxanium"/>
              </a:rPr>
              <a:t>Hindari penggunaan jargon teknis berlebihan tanpa penjelasan.</a:t>
            </a:r>
          </a:p>
          <a:p>
            <a:pPr algn="just" marL="302259" indent="-151129" lvl="1">
              <a:lnSpc>
                <a:spcPts val="1959"/>
              </a:lnSpc>
              <a:buFont typeface="Arial"/>
              <a:buChar char="•"/>
            </a:pPr>
            <a:r>
              <a:rPr lang="en-US" sz="1399">
                <a:solidFill>
                  <a:srgbClr val="0C2A52"/>
                </a:solidFill>
                <a:latin typeface="Oxanium"/>
                <a:ea typeface="Oxanium"/>
                <a:cs typeface="Oxanium"/>
                <a:sym typeface="Oxanium"/>
              </a:rPr>
              <a:t>Fokus pada kejelasan ide, logika solusi, dan dampak nyata, bukan sekadar gaya bahasa.</a:t>
            </a:r>
          </a:p>
          <a:p>
            <a:pPr algn="just" marL="302259" indent="-151129" lvl="1">
              <a:lnSpc>
                <a:spcPts val="1959"/>
              </a:lnSpc>
              <a:buFont typeface="Arial"/>
              <a:buChar char="•"/>
            </a:pPr>
            <a:r>
              <a:rPr lang="en-US" sz="1399">
                <a:solidFill>
                  <a:srgbClr val="0C2A52"/>
                </a:solidFill>
                <a:latin typeface="Oxanium"/>
                <a:ea typeface="Oxanium"/>
                <a:cs typeface="Oxanium"/>
                <a:sym typeface="Oxanium"/>
              </a:rPr>
              <a:t>Proposal harus mengikuti struktur template resmi yang disediakan oleh panitia.</a:t>
            </a:r>
          </a:p>
          <a:p>
            <a:pPr algn="just" marL="302259" indent="-151129" lvl="1">
              <a:lnSpc>
                <a:spcPts val="1959"/>
              </a:lnSpc>
              <a:buFont typeface="Arial"/>
              <a:buChar char="•"/>
            </a:pPr>
            <a:r>
              <a:rPr lang="en-US" sz="1399">
                <a:solidFill>
                  <a:srgbClr val="0C2A52"/>
                </a:solidFill>
                <a:latin typeface="Oxanium"/>
                <a:ea typeface="Oxanium"/>
                <a:cs typeface="Oxanium"/>
                <a:sym typeface="Oxanium"/>
              </a:rPr>
              <a:t>Setiap bagian harus diisi secara proporsional, tidak terlalu panjang di satu bagian dan terlalu pendek di bagian lain.</a:t>
            </a:r>
          </a:p>
          <a:p>
            <a:pPr algn="just" marL="302259" indent="-151129" lvl="1">
              <a:lnSpc>
                <a:spcPts val="1959"/>
              </a:lnSpc>
              <a:buFont typeface="Arial"/>
              <a:buChar char="•"/>
            </a:pPr>
            <a:r>
              <a:rPr lang="en-US" sz="1399">
                <a:solidFill>
                  <a:srgbClr val="0C2A52"/>
                </a:solidFill>
                <a:latin typeface="Oxanium"/>
                <a:ea typeface="Oxanium"/>
                <a:cs typeface="Oxanium"/>
                <a:sym typeface="Oxanium"/>
              </a:rPr>
              <a:t>Format dokumen:</a:t>
            </a:r>
          </a:p>
          <a:p>
            <a:pPr algn="just" marL="604518" indent="-201506" lvl="2">
              <a:lnSpc>
                <a:spcPts val="1959"/>
              </a:lnSpc>
              <a:buFont typeface="Arial"/>
              <a:buChar char="⚬"/>
            </a:pPr>
            <a:r>
              <a:rPr lang="en-US" sz="1399">
                <a:solidFill>
                  <a:srgbClr val="0C2A52"/>
                </a:solidFill>
                <a:latin typeface="Oxanium"/>
                <a:ea typeface="Oxanium"/>
                <a:cs typeface="Oxanium"/>
                <a:sym typeface="Oxanium"/>
              </a:rPr>
              <a:t>Format file: PDF</a:t>
            </a:r>
          </a:p>
          <a:p>
            <a:pPr algn="just" marL="604518" indent="-201506" lvl="2">
              <a:lnSpc>
                <a:spcPts val="1959"/>
              </a:lnSpc>
              <a:buFont typeface="Arial"/>
              <a:buChar char="⚬"/>
            </a:pPr>
            <a:r>
              <a:rPr lang="en-US" sz="1399">
                <a:solidFill>
                  <a:srgbClr val="0C2A52"/>
                </a:solidFill>
                <a:latin typeface="Oxanium"/>
                <a:ea typeface="Oxanium"/>
                <a:cs typeface="Oxanium"/>
                <a:sym typeface="Oxanium"/>
              </a:rPr>
              <a:t>Nama file: Nama Tim_Nama Ketua Tim_Proposal Hackathon dan Digdaya 2026.pdf</a:t>
            </a:r>
          </a:p>
          <a:p>
            <a:pPr algn="just" marL="604518" indent="-201506" lvl="2">
              <a:lnSpc>
                <a:spcPts val="1959"/>
              </a:lnSpc>
              <a:buFont typeface="Arial"/>
              <a:buChar char="⚬"/>
            </a:pPr>
            <a:r>
              <a:rPr lang="en-US" sz="1399">
                <a:solidFill>
                  <a:srgbClr val="0C2A52"/>
                </a:solidFill>
                <a:latin typeface="Oxanium"/>
                <a:ea typeface="Oxanium"/>
                <a:cs typeface="Oxanium"/>
                <a:sym typeface="Oxanium"/>
              </a:rPr>
              <a:t>Spasi: 1 – 1.15</a:t>
            </a:r>
          </a:p>
          <a:p>
            <a:pPr algn="just" marL="604518" indent="-201506" lvl="2">
              <a:lnSpc>
                <a:spcPts val="1959"/>
              </a:lnSpc>
              <a:buFont typeface="Arial"/>
              <a:buChar char="⚬"/>
            </a:pPr>
            <a:r>
              <a:rPr lang="en-US" sz="1399">
                <a:solidFill>
                  <a:srgbClr val="0C2A52"/>
                </a:solidFill>
                <a:latin typeface="Oxanium"/>
                <a:ea typeface="Oxanium"/>
                <a:cs typeface="Oxanium"/>
                <a:sym typeface="Oxanium"/>
              </a:rPr>
              <a:t>Font: bebas, mudah dibaca (contoh: Arial, Calibri, Times New Roman)</a:t>
            </a:r>
          </a:p>
          <a:p>
            <a:pPr algn="just" marL="604518" indent="-201506" lvl="2">
              <a:lnSpc>
                <a:spcPts val="1959"/>
              </a:lnSpc>
              <a:buFont typeface="Arial"/>
              <a:buChar char="⚬"/>
            </a:pPr>
            <a:r>
              <a:rPr lang="en-US" sz="1399">
                <a:solidFill>
                  <a:srgbClr val="0C2A52"/>
                </a:solidFill>
                <a:latin typeface="Oxanium"/>
                <a:ea typeface="Oxanium"/>
                <a:cs typeface="Oxanium"/>
                <a:sym typeface="Oxanium"/>
              </a:rPr>
              <a:t>Ukuran font utama: 11–12 pt</a:t>
            </a:r>
          </a:p>
          <a:p>
            <a:pPr algn="just" marL="302259" indent="-151129" lvl="1">
              <a:lnSpc>
                <a:spcPts val="1959"/>
              </a:lnSpc>
              <a:buFont typeface="Arial"/>
              <a:buChar char="•"/>
            </a:pPr>
            <a:r>
              <a:rPr lang="en-US" sz="1399">
                <a:solidFill>
                  <a:srgbClr val="0C2A52"/>
                </a:solidFill>
                <a:latin typeface="Oxanium"/>
                <a:ea typeface="Oxanium"/>
                <a:cs typeface="Oxanium"/>
                <a:sym typeface="Oxanium"/>
              </a:rPr>
              <a:t>Gambar, diagram, tabel, atau ilustrasi bersifat opsional.</a:t>
            </a:r>
          </a:p>
          <a:p>
            <a:pPr algn="just" marL="302259" indent="-151129" lvl="1">
              <a:lnSpc>
                <a:spcPts val="1959"/>
              </a:lnSpc>
              <a:buFont typeface="Arial"/>
              <a:buChar char="•"/>
            </a:pPr>
            <a:r>
              <a:rPr lang="en-US" sz="1399">
                <a:solidFill>
                  <a:srgbClr val="0C2A52"/>
                </a:solidFill>
                <a:latin typeface="Oxanium"/>
                <a:ea typeface="Oxanium"/>
                <a:cs typeface="Oxanium"/>
                <a:sym typeface="Oxanium"/>
              </a:rPr>
              <a:t>Visual hanya digunakan jika membantu memperjelas ide, bukan sebagai dekorasi.</a:t>
            </a:r>
          </a:p>
          <a:p>
            <a:pPr algn="just" marL="302259" indent="-151129" lvl="1">
              <a:lnSpc>
                <a:spcPts val="1959"/>
              </a:lnSpc>
              <a:buFont typeface="Arial"/>
              <a:buChar char="•"/>
            </a:pPr>
            <a:r>
              <a:rPr lang="en-US" sz="1399">
                <a:solidFill>
                  <a:srgbClr val="0C2A52"/>
                </a:solidFill>
                <a:latin typeface="Oxanium"/>
                <a:ea typeface="Oxanium"/>
                <a:cs typeface="Oxanium"/>
                <a:sym typeface="Oxanium"/>
              </a:rPr>
              <a:t>Semua visual harus: Relevan, mudah dibaca, dan diberi judul atau keterangan singkat jika perlu.</a:t>
            </a:r>
          </a:p>
          <a:p>
            <a:pPr algn="just" marL="302259" indent="-151129" lvl="1">
              <a:lnSpc>
                <a:spcPts val="1959"/>
              </a:lnSpc>
              <a:buFont typeface="Arial"/>
              <a:buChar char="•"/>
            </a:pPr>
            <a:r>
              <a:rPr lang="en-US" sz="1399">
                <a:solidFill>
                  <a:srgbClr val="0C2A52"/>
                </a:solidFill>
                <a:latin typeface="Oxanium"/>
                <a:ea typeface="Oxanium"/>
                <a:cs typeface="Oxanium"/>
                <a:sym typeface="Oxanium"/>
              </a:rPr>
              <a:t>Dapat menambahkan Referensi sebagai tambahan di akhir dokumen proposal jika mengutip pihak lain.</a:t>
            </a:r>
          </a:p>
          <a:p>
            <a:pPr algn="just" marL="302259" indent="-151129" lvl="1">
              <a:lnSpc>
                <a:spcPts val="1959"/>
              </a:lnSpc>
              <a:buFont typeface="Arial"/>
              <a:buChar char="•"/>
            </a:pPr>
            <a:r>
              <a:rPr lang="en-US" sz="1399">
                <a:solidFill>
                  <a:srgbClr val="0C2A52"/>
                </a:solidFill>
                <a:latin typeface="Oxanium"/>
                <a:ea typeface="Oxanium"/>
                <a:cs typeface="Oxanium"/>
                <a:sym typeface="Oxanium"/>
              </a:rPr>
              <a:t>Proposal yang telah diisi dapat diunggah di laman submission dengan bentuk pdf saja.</a:t>
            </a:r>
          </a:p>
          <a:p>
            <a:pPr algn="just" marL="302259" indent="-151129" lvl="1">
              <a:lnSpc>
                <a:spcPts val="1959"/>
              </a:lnSpc>
              <a:buFont typeface="Arial"/>
              <a:buChar char="•"/>
            </a:pPr>
            <a:r>
              <a:rPr lang="en-US" sz="1399">
                <a:solidFill>
                  <a:srgbClr val="0C2A52"/>
                </a:solidFill>
                <a:latin typeface="Oxanium"/>
                <a:ea typeface="Oxanium"/>
                <a:cs typeface="Oxanium"/>
                <a:sym typeface="Oxanium"/>
              </a:rPr>
              <a:t>Peserta dapat melampirkan dokumen tambahan lain yang relevan dan atau link demo / prototype (bersifat opsional).</a:t>
            </a:r>
          </a:p>
        </p:txBody>
      </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756000" y="1505637"/>
            <a:ext cx="1857895" cy="8430363"/>
            <a:chOff x="0" y="0"/>
            <a:chExt cx="520178" cy="2360353"/>
          </a:xfrm>
        </p:grpSpPr>
        <p:sp>
          <p:nvSpPr>
            <p:cNvPr name="Freeform 3" id="3"/>
            <p:cNvSpPr/>
            <p:nvPr/>
          </p:nvSpPr>
          <p:spPr>
            <a:xfrm flipH="false" flipV="false" rot="0">
              <a:off x="0" y="0"/>
              <a:ext cx="520178" cy="2360353"/>
            </a:xfrm>
            <a:custGeom>
              <a:avLst/>
              <a:gdLst/>
              <a:ahLst/>
              <a:cxnLst/>
              <a:rect r="r" b="b" t="t" l="l"/>
              <a:pathLst>
                <a:path h="2360353" w="520178">
                  <a:moveTo>
                    <a:pt x="61854" y="0"/>
                  </a:moveTo>
                  <a:lnTo>
                    <a:pt x="458323" y="0"/>
                  </a:lnTo>
                  <a:cubicBezTo>
                    <a:pt x="474728" y="0"/>
                    <a:pt x="490461" y="6517"/>
                    <a:pt x="502061" y="18117"/>
                  </a:cubicBezTo>
                  <a:cubicBezTo>
                    <a:pt x="513661" y="29717"/>
                    <a:pt x="520178" y="45450"/>
                    <a:pt x="520178" y="61854"/>
                  </a:cubicBezTo>
                  <a:lnTo>
                    <a:pt x="520178" y="2298498"/>
                  </a:lnTo>
                  <a:cubicBezTo>
                    <a:pt x="520178" y="2314903"/>
                    <a:pt x="513661" y="2330636"/>
                    <a:pt x="502061" y="2342236"/>
                  </a:cubicBezTo>
                  <a:cubicBezTo>
                    <a:pt x="490461" y="2353836"/>
                    <a:pt x="474728" y="2360353"/>
                    <a:pt x="458323" y="2360353"/>
                  </a:cubicBezTo>
                  <a:lnTo>
                    <a:pt x="61854" y="2360353"/>
                  </a:lnTo>
                  <a:cubicBezTo>
                    <a:pt x="45450" y="2360353"/>
                    <a:pt x="29717" y="2353836"/>
                    <a:pt x="18117" y="2342236"/>
                  </a:cubicBezTo>
                  <a:cubicBezTo>
                    <a:pt x="6517" y="2330636"/>
                    <a:pt x="0" y="2314903"/>
                    <a:pt x="0" y="2298498"/>
                  </a:cubicBezTo>
                  <a:lnTo>
                    <a:pt x="0" y="61854"/>
                  </a:lnTo>
                  <a:cubicBezTo>
                    <a:pt x="0" y="45450"/>
                    <a:pt x="6517" y="29717"/>
                    <a:pt x="18117" y="18117"/>
                  </a:cubicBezTo>
                  <a:cubicBezTo>
                    <a:pt x="29717" y="6517"/>
                    <a:pt x="45450" y="0"/>
                    <a:pt x="61854" y="0"/>
                  </a:cubicBezTo>
                  <a:close/>
                </a:path>
              </a:pathLst>
            </a:custGeom>
            <a:ln w="19050" cap="sq">
              <a:solidFill>
                <a:srgbClr val="1F4894"/>
              </a:solidFill>
              <a:prstDash val="solid"/>
              <a:miter/>
            </a:ln>
          </p:spPr>
        </p:sp>
        <p:sp>
          <p:nvSpPr>
            <p:cNvPr name="TextBox 4" id="4"/>
            <p:cNvSpPr txBox="true"/>
            <p:nvPr/>
          </p:nvSpPr>
          <p:spPr>
            <a:xfrm>
              <a:off x="0" y="-28575"/>
              <a:ext cx="520178" cy="2388928"/>
            </a:xfrm>
            <a:prstGeom prst="rect">
              <a:avLst/>
            </a:prstGeom>
          </p:spPr>
          <p:txBody>
            <a:bodyPr anchor="ctr" rtlCol="false" tIns="50800" lIns="50800" bIns="50800" rIns="50800"/>
            <a:lstStyle/>
            <a:p>
              <a:pPr algn="ctr">
                <a:lnSpc>
                  <a:spcPts val="1960"/>
                </a:lnSpc>
              </a:pPr>
            </a:p>
          </p:txBody>
        </p:sp>
      </p:grpSp>
      <p:sp>
        <p:nvSpPr>
          <p:cNvPr name="TextBox 5" id="5"/>
          <p:cNvSpPr txBox="true"/>
          <p:nvPr/>
        </p:nvSpPr>
        <p:spPr>
          <a:xfrm rot="0">
            <a:off x="794298" y="10159188"/>
            <a:ext cx="6000127"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0</a:t>
            </a:r>
          </a:p>
        </p:txBody>
      </p:sp>
      <p:sp>
        <p:nvSpPr>
          <p:cNvPr name="TextBox 6" id="6"/>
          <p:cNvSpPr txBox="true"/>
          <p:nvPr/>
        </p:nvSpPr>
        <p:spPr>
          <a:xfrm rot="0">
            <a:off x="756000" y="728703"/>
            <a:ext cx="6048000" cy="450850"/>
          </a:xfrm>
          <a:prstGeom prst="rect">
            <a:avLst/>
          </a:prstGeom>
        </p:spPr>
        <p:txBody>
          <a:bodyPr anchor="t" rtlCol="false" tIns="0" lIns="0" bIns="0" rIns="0">
            <a:spAutoFit/>
          </a:bodyPr>
          <a:lstStyle/>
          <a:p>
            <a:pPr algn="ctr">
              <a:lnSpc>
                <a:spcPts val="3499"/>
              </a:lnSpc>
            </a:pPr>
            <a:r>
              <a:rPr lang="en-US" sz="2499">
                <a:solidFill>
                  <a:srgbClr val="1F4894"/>
                </a:solidFill>
                <a:latin typeface="Mortend Bold"/>
                <a:ea typeface="Mortend Bold"/>
                <a:cs typeface="Mortend Bold"/>
                <a:sym typeface="Mortend Bold"/>
              </a:rPr>
              <a:t>problem statements</a:t>
            </a:r>
          </a:p>
        </p:txBody>
      </p:sp>
      <p:grpSp>
        <p:nvGrpSpPr>
          <p:cNvPr name="Group 7" id="7"/>
          <p:cNvGrpSpPr/>
          <p:nvPr/>
        </p:nvGrpSpPr>
        <p:grpSpPr>
          <a:xfrm rot="0">
            <a:off x="2851053" y="1505637"/>
            <a:ext cx="1857895" cy="8430363"/>
            <a:chOff x="0" y="0"/>
            <a:chExt cx="520178" cy="2360353"/>
          </a:xfrm>
        </p:grpSpPr>
        <p:sp>
          <p:nvSpPr>
            <p:cNvPr name="Freeform 8" id="8"/>
            <p:cNvSpPr/>
            <p:nvPr/>
          </p:nvSpPr>
          <p:spPr>
            <a:xfrm flipH="false" flipV="false" rot="0">
              <a:off x="0" y="0"/>
              <a:ext cx="520178" cy="2360353"/>
            </a:xfrm>
            <a:custGeom>
              <a:avLst/>
              <a:gdLst/>
              <a:ahLst/>
              <a:cxnLst/>
              <a:rect r="r" b="b" t="t" l="l"/>
              <a:pathLst>
                <a:path h="2360353" w="520178">
                  <a:moveTo>
                    <a:pt x="61854" y="0"/>
                  </a:moveTo>
                  <a:lnTo>
                    <a:pt x="458323" y="0"/>
                  </a:lnTo>
                  <a:cubicBezTo>
                    <a:pt x="474728" y="0"/>
                    <a:pt x="490461" y="6517"/>
                    <a:pt x="502061" y="18117"/>
                  </a:cubicBezTo>
                  <a:cubicBezTo>
                    <a:pt x="513661" y="29717"/>
                    <a:pt x="520178" y="45450"/>
                    <a:pt x="520178" y="61854"/>
                  </a:cubicBezTo>
                  <a:lnTo>
                    <a:pt x="520178" y="2298498"/>
                  </a:lnTo>
                  <a:cubicBezTo>
                    <a:pt x="520178" y="2314903"/>
                    <a:pt x="513661" y="2330636"/>
                    <a:pt x="502061" y="2342236"/>
                  </a:cubicBezTo>
                  <a:cubicBezTo>
                    <a:pt x="490461" y="2353836"/>
                    <a:pt x="474728" y="2360353"/>
                    <a:pt x="458323" y="2360353"/>
                  </a:cubicBezTo>
                  <a:lnTo>
                    <a:pt x="61854" y="2360353"/>
                  </a:lnTo>
                  <a:cubicBezTo>
                    <a:pt x="45450" y="2360353"/>
                    <a:pt x="29717" y="2353836"/>
                    <a:pt x="18117" y="2342236"/>
                  </a:cubicBezTo>
                  <a:cubicBezTo>
                    <a:pt x="6517" y="2330636"/>
                    <a:pt x="0" y="2314903"/>
                    <a:pt x="0" y="2298498"/>
                  </a:cubicBezTo>
                  <a:lnTo>
                    <a:pt x="0" y="61854"/>
                  </a:lnTo>
                  <a:cubicBezTo>
                    <a:pt x="0" y="45450"/>
                    <a:pt x="6517" y="29717"/>
                    <a:pt x="18117" y="18117"/>
                  </a:cubicBezTo>
                  <a:cubicBezTo>
                    <a:pt x="29717" y="6517"/>
                    <a:pt x="45450" y="0"/>
                    <a:pt x="61854" y="0"/>
                  </a:cubicBezTo>
                  <a:close/>
                </a:path>
              </a:pathLst>
            </a:custGeom>
            <a:ln w="19050" cap="sq">
              <a:solidFill>
                <a:srgbClr val="1F4894"/>
              </a:solidFill>
              <a:prstDash val="solid"/>
              <a:miter/>
            </a:ln>
          </p:spPr>
        </p:sp>
        <p:sp>
          <p:nvSpPr>
            <p:cNvPr name="TextBox 9" id="9"/>
            <p:cNvSpPr txBox="true"/>
            <p:nvPr/>
          </p:nvSpPr>
          <p:spPr>
            <a:xfrm>
              <a:off x="0" y="-28575"/>
              <a:ext cx="520178" cy="2388928"/>
            </a:xfrm>
            <a:prstGeom prst="rect">
              <a:avLst/>
            </a:prstGeom>
          </p:spPr>
          <p:txBody>
            <a:bodyPr anchor="ctr" rtlCol="false" tIns="50800" lIns="50800" bIns="50800" rIns="50800"/>
            <a:lstStyle/>
            <a:p>
              <a:pPr algn="ctr">
                <a:lnSpc>
                  <a:spcPts val="1960"/>
                </a:lnSpc>
              </a:pPr>
            </a:p>
          </p:txBody>
        </p:sp>
      </p:grpSp>
      <p:grpSp>
        <p:nvGrpSpPr>
          <p:cNvPr name="Group 10" id="10"/>
          <p:cNvGrpSpPr/>
          <p:nvPr/>
        </p:nvGrpSpPr>
        <p:grpSpPr>
          <a:xfrm rot="0">
            <a:off x="4946105" y="1505637"/>
            <a:ext cx="1857895" cy="8430363"/>
            <a:chOff x="0" y="0"/>
            <a:chExt cx="520178" cy="2360353"/>
          </a:xfrm>
        </p:grpSpPr>
        <p:sp>
          <p:nvSpPr>
            <p:cNvPr name="Freeform 11" id="11"/>
            <p:cNvSpPr/>
            <p:nvPr/>
          </p:nvSpPr>
          <p:spPr>
            <a:xfrm flipH="false" flipV="false" rot="0">
              <a:off x="0" y="0"/>
              <a:ext cx="520178" cy="2360353"/>
            </a:xfrm>
            <a:custGeom>
              <a:avLst/>
              <a:gdLst/>
              <a:ahLst/>
              <a:cxnLst/>
              <a:rect r="r" b="b" t="t" l="l"/>
              <a:pathLst>
                <a:path h="2360353" w="520178">
                  <a:moveTo>
                    <a:pt x="61854" y="0"/>
                  </a:moveTo>
                  <a:lnTo>
                    <a:pt x="458323" y="0"/>
                  </a:lnTo>
                  <a:cubicBezTo>
                    <a:pt x="474728" y="0"/>
                    <a:pt x="490461" y="6517"/>
                    <a:pt x="502061" y="18117"/>
                  </a:cubicBezTo>
                  <a:cubicBezTo>
                    <a:pt x="513661" y="29717"/>
                    <a:pt x="520178" y="45450"/>
                    <a:pt x="520178" y="61854"/>
                  </a:cubicBezTo>
                  <a:lnTo>
                    <a:pt x="520178" y="2298498"/>
                  </a:lnTo>
                  <a:cubicBezTo>
                    <a:pt x="520178" y="2314903"/>
                    <a:pt x="513661" y="2330636"/>
                    <a:pt x="502061" y="2342236"/>
                  </a:cubicBezTo>
                  <a:cubicBezTo>
                    <a:pt x="490461" y="2353836"/>
                    <a:pt x="474728" y="2360353"/>
                    <a:pt x="458323" y="2360353"/>
                  </a:cubicBezTo>
                  <a:lnTo>
                    <a:pt x="61854" y="2360353"/>
                  </a:lnTo>
                  <a:cubicBezTo>
                    <a:pt x="45450" y="2360353"/>
                    <a:pt x="29717" y="2353836"/>
                    <a:pt x="18117" y="2342236"/>
                  </a:cubicBezTo>
                  <a:cubicBezTo>
                    <a:pt x="6517" y="2330636"/>
                    <a:pt x="0" y="2314903"/>
                    <a:pt x="0" y="2298498"/>
                  </a:cubicBezTo>
                  <a:lnTo>
                    <a:pt x="0" y="61854"/>
                  </a:lnTo>
                  <a:cubicBezTo>
                    <a:pt x="0" y="45450"/>
                    <a:pt x="6517" y="29717"/>
                    <a:pt x="18117" y="18117"/>
                  </a:cubicBezTo>
                  <a:cubicBezTo>
                    <a:pt x="29717" y="6517"/>
                    <a:pt x="45450" y="0"/>
                    <a:pt x="61854" y="0"/>
                  </a:cubicBezTo>
                  <a:close/>
                </a:path>
              </a:pathLst>
            </a:custGeom>
            <a:ln w="19050" cap="sq">
              <a:solidFill>
                <a:srgbClr val="1F4894"/>
              </a:solidFill>
              <a:prstDash val="solid"/>
              <a:miter/>
            </a:ln>
          </p:spPr>
        </p:sp>
        <p:sp>
          <p:nvSpPr>
            <p:cNvPr name="TextBox 12" id="12"/>
            <p:cNvSpPr txBox="true"/>
            <p:nvPr/>
          </p:nvSpPr>
          <p:spPr>
            <a:xfrm>
              <a:off x="0" y="-28575"/>
              <a:ext cx="520178" cy="2388928"/>
            </a:xfrm>
            <a:prstGeom prst="rect">
              <a:avLst/>
            </a:prstGeom>
          </p:spPr>
          <p:txBody>
            <a:bodyPr anchor="ctr" rtlCol="false" tIns="50800" lIns="50800" bIns="50800" rIns="50800"/>
            <a:lstStyle/>
            <a:p>
              <a:pPr algn="ctr">
                <a:lnSpc>
                  <a:spcPts val="1960"/>
                </a:lnSpc>
              </a:pPr>
            </a:p>
          </p:txBody>
        </p:sp>
      </p:grpSp>
      <p:sp>
        <p:nvSpPr>
          <p:cNvPr name="TextBox 13" id="13"/>
          <p:cNvSpPr txBox="true"/>
          <p:nvPr/>
        </p:nvSpPr>
        <p:spPr>
          <a:xfrm rot="0">
            <a:off x="756000" y="1538122"/>
            <a:ext cx="1856928" cy="828675"/>
          </a:xfrm>
          <a:prstGeom prst="rect">
            <a:avLst/>
          </a:prstGeom>
        </p:spPr>
        <p:txBody>
          <a:bodyPr anchor="t" rtlCol="false" tIns="0" lIns="0" bIns="0" rIns="0">
            <a:spAutoFit/>
          </a:bodyPr>
          <a:lstStyle/>
          <a:p>
            <a:pPr algn="ctr">
              <a:lnSpc>
                <a:spcPts val="2100"/>
              </a:lnSpc>
            </a:pPr>
            <a:r>
              <a:rPr lang="en-US" sz="1500">
                <a:solidFill>
                  <a:srgbClr val="1F4894"/>
                </a:solidFill>
                <a:latin typeface="Oxanium"/>
                <a:ea typeface="Oxanium"/>
                <a:cs typeface="Oxanium"/>
                <a:sym typeface="Oxanium"/>
              </a:rPr>
              <a:t>P</a:t>
            </a:r>
            <a:r>
              <a:rPr lang="en-US" sz="1500">
                <a:solidFill>
                  <a:srgbClr val="1F4894"/>
                </a:solidFill>
                <a:latin typeface="Oxanium"/>
                <a:ea typeface="Oxanium"/>
                <a:cs typeface="Oxanium"/>
                <a:sym typeface="Oxanium"/>
              </a:rPr>
              <a:t>enguatan Ketahanan dan Inovasi Keuangan</a:t>
            </a:r>
          </a:p>
        </p:txBody>
      </p:sp>
      <p:sp>
        <p:nvSpPr>
          <p:cNvPr name="TextBox 14" id="14"/>
          <p:cNvSpPr txBox="true"/>
          <p:nvPr/>
        </p:nvSpPr>
        <p:spPr>
          <a:xfrm rot="0">
            <a:off x="756000" y="2666272"/>
            <a:ext cx="1856928" cy="252730"/>
          </a:xfrm>
          <a:prstGeom prst="rect">
            <a:avLst/>
          </a:prstGeom>
        </p:spPr>
        <p:txBody>
          <a:bodyPr anchor="t" rtlCol="false" tIns="0" lIns="0" bIns="0" rIns="0">
            <a:spAutoFit/>
          </a:bodyPr>
          <a:lstStyle/>
          <a:p>
            <a:pPr algn="ctr">
              <a:lnSpc>
                <a:spcPts val="1820"/>
              </a:lnSpc>
            </a:pPr>
            <a:r>
              <a:rPr lang="en-US" sz="1300">
                <a:solidFill>
                  <a:srgbClr val="1F4894"/>
                </a:solidFill>
                <a:latin typeface="Oxanium"/>
                <a:ea typeface="Oxanium"/>
                <a:cs typeface="Oxanium"/>
                <a:sym typeface="Oxanium"/>
              </a:rPr>
              <a:t>M</a:t>
            </a:r>
            <a:r>
              <a:rPr lang="en-US" sz="1300">
                <a:solidFill>
                  <a:srgbClr val="1F4894"/>
                </a:solidFill>
                <a:latin typeface="Oxanium"/>
                <a:ea typeface="Oxanium"/>
                <a:cs typeface="Oxanium"/>
                <a:sym typeface="Oxanium"/>
              </a:rPr>
              <a:t>anajemen Risiko</a:t>
            </a:r>
          </a:p>
        </p:txBody>
      </p:sp>
      <p:sp>
        <p:nvSpPr>
          <p:cNvPr name="TextBox 15" id="15"/>
          <p:cNvSpPr txBox="true"/>
          <p:nvPr/>
        </p:nvSpPr>
        <p:spPr>
          <a:xfrm rot="0">
            <a:off x="756000" y="2959325"/>
            <a:ext cx="1856928" cy="1082040"/>
          </a:xfrm>
          <a:prstGeom prst="rect">
            <a:avLst/>
          </a:prstGeom>
        </p:spPr>
        <p:txBody>
          <a:bodyPr anchor="t" rtlCol="false" tIns="0" lIns="0" bIns="0" rIns="0">
            <a:spAutoFit/>
          </a:bodyPr>
          <a:lstStyle/>
          <a:p>
            <a:pPr algn="l" marL="194312" indent="-97156" lvl="1">
              <a:lnSpc>
                <a:spcPts val="1260"/>
              </a:lnSpc>
              <a:buAutoNum type="arabicPeriod" startAt="1"/>
            </a:pPr>
            <a:r>
              <a:rPr lang="en-US" sz="900">
                <a:solidFill>
                  <a:srgbClr val="1F4894"/>
                </a:solidFill>
                <a:latin typeface="Oxanium"/>
                <a:ea typeface="Oxanium"/>
                <a:cs typeface="Oxanium"/>
                <a:sym typeface="Oxanium"/>
              </a:rPr>
              <a:t>Fraud Detection Systems (FDS)</a:t>
            </a:r>
          </a:p>
          <a:p>
            <a:pPr algn="l" marL="194312" indent="-97156" lvl="1">
              <a:lnSpc>
                <a:spcPts val="1260"/>
              </a:lnSpc>
              <a:buAutoNum type="arabicPeriod" startAt="1"/>
            </a:pPr>
            <a:r>
              <a:rPr lang="en-US" sz="900">
                <a:solidFill>
                  <a:srgbClr val="1F4894"/>
                </a:solidFill>
                <a:latin typeface="Oxanium"/>
                <a:ea typeface="Oxanium"/>
                <a:cs typeface="Oxanium"/>
                <a:sym typeface="Oxanium"/>
              </a:rPr>
              <a:t>APU/PPT, Tracing Transacti</a:t>
            </a:r>
            <a:r>
              <a:rPr lang="en-US" sz="900">
                <a:solidFill>
                  <a:srgbClr val="1F4894"/>
                </a:solidFill>
                <a:latin typeface="Oxanium"/>
                <a:ea typeface="Oxanium"/>
                <a:cs typeface="Oxanium"/>
                <a:sym typeface="Oxanium"/>
              </a:rPr>
              <a:t>on termasuk kripto</a:t>
            </a:r>
          </a:p>
          <a:p>
            <a:pPr algn="l" marL="194312" indent="-97156" lvl="1">
              <a:lnSpc>
                <a:spcPts val="1260"/>
              </a:lnSpc>
              <a:buAutoNum type="arabicPeriod" startAt="1"/>
            </a:pPr>
            <a:r>
              <a:rPr lang="en-US" sz="900">
                <a:solidFill>
                  <a:srgbClr val="1F4894"/>
                </a:solidFill>
                <a:latin typeface="Oxanium"/>
                <a:ea typeface="Oxanium"/>
                <a:cs typeface="Oxanium"/>
                <a:sym typeface="Oxanium"/>
              </a:rPr>
              <a:t>Perlindungan Konsumen</a:t>
            </a:r>
          </a:p>
          <a:p>
            <a:pPr algn="l" marL="194312" indent="-97156" lvl="1">
              <a:lnSpc>
                <a:spcPts val="1260"/>
              </a:lnSpc>
              <a:buAutoNum type="arabicPeriod" startAt="1"/>
            </a:pPr>
            <a:r>
              <a:rPr lang="en-US" sz="900">
                <a:solidFill>
                  <a:srgbClr val="1F4894"/>
                </a:solidFill>
                <a:latin typeface="Oxanium"/>
                <a:ea typeface="Oxanium"/>
                <a:cs typeface="Oxanium"/>
                <a:sym typeface="Oxanium"/>
              </a:rPr>
              <a:t>Cyber Security &amp; Data Protection</a:t>
            </a:r>
          </a:p>
          <a:p>
            <a:pPr algn="l" marL="194312" indent="-97156" lvl="1">
              <a:lnSpc>
                <a:spcPts val="1260"/>
              </a:lnSpc>
              <a:buAutoNum type="arabicPeriod" startAt="1"/>
            </a:pPr>
            <a:r>
              <a:rPr lang="en-US" sz="900">
                <a:solidFill>
                  <a:srgbClr val="1F4894"/>
                </a:solidFill>
                <a:latin typeface="Oxanium"/>
                <a:ea typeface="Oxanium"/>
                <a:cs typeface="Oxanium"/>
                <a:sym typeface="Oxanium"/>
              </a:rPr>
              <a:t>Regtech &amp; Suptech</a:t>
            </a:r>
          </a:p>
        </p:txBody>
      </p:sp>
      <p:sp>
        <p:nvSpPr>
          <p:cNvPr name="TextBox 16" id="16"/>
          <p:cNvSpPr txBox="true"/>
          <p:nvPr/>
        </p:nvSpPr>
        <p:spPr>
          <a:xfrm rot="0">
            <a:off x="756000" y="4336639"/>
            <a:ext cx="1856928" cy="481330"/>
          </a:xfrm>
          <a:prstGeom prst="rect">
            <a:avLst/>
          </a:prstGeom>
        </p:spPr>
        <p:txBody>
          <a:bodyPr anchor="t" rtlCol="false" tIns="0" lIns="0" bIns="0" rIns="0">
            <a:spAutoFit/>
          </a:bodyPr>
          <a:lstStyle/>
          <a:p>
            <a:pPr algn="ctr">
              <a:lnSpc>
                <a:spcPts val="1820"/>
              </a:lnSpc>
            </a:pPr>
            <a:r>
              <a:rPr lang="en-US" sz="1300">
                <a:solidFill>
                  <a:srgbClr val="1F4894"/>
                </a:solidFill>
                <a:latin typeface="Oxanium"/>
                <a:ea typeface="Oxanium"/>
                <a:cs typeface="Oxanium"/>
                <a:sym typeface="Oxanium"/>
              </a:rPr>
              <a:t>Elektronifikasi Keu</a:t>
            </a:r>
            <a:r>
              <a:rPr lang="en-US" sz="1300">
                <a:solidFill>
                  <a:srgbClr val="1F4894"/>
                </a:solidFill>
                <a:latin typeface="Oxanium"/>
                <a:ea typeface="Oxanium"/>
                <a:cs typeface="Oxanium"/>
                <a:sym typeface="Oxanium"/>
              </a:rPr>
              <a:t>angan Daerah</a:t>
            </a:r>
          </a:p>
        </p:txBody>
      </p:sp>
      <p:sp>
        <p:nvSpPr>
          <p:cNvPr name="TextBox 17" id="17"/>
          <p:cNvSpPr txBox="true"/>
          <p:nvPr/>
        </p:nvSpPr>
        <p:spPr>
          <a:xfrm rot="0">
            <a:off x="756000" y="4856069"/>
            <a:ext cx="1856928" cy="1234440"/>
          </a:xfrm>
          <a:prstGeom prst="rect">
            <a:avLst/>
          </a:prstGeom>
        </p:spPr>
        <p:txBody>
          <a:bodyPr anchor="t" rtlCol="false" tIns="0" lIns="0" bIns="0" rIns="0">
            <a:spAutoFit/>
          </a:bodyPr>
          <a:lstStyle/>
          <a:p>
            <a:pPr algn="l" marL="194312" indent="-97156" lvl="1">
              <a:lnSpc>
                <a:spcPts val="1260"/>
              </a:lnSpc>
              <a:buAutoNum type="arabicPeriod" startAt="1"/>
            </a:pPr>
            <a:r>
              <a:rPr lang="en-US" sz="900">
                <a:solidFill>
                  <a:srgbClr val="1F4894"/>
                </a:solidFill>
                <a:latin typeface="Oxanium"/>
                <a:ea typeface="Oxanium"/>
                <a:cs typeface="Oxanium"/>
                <a:sym typeface="Oxanium"/>
              </a:rPr>
              <a:t>Sistem Pemungutan Pendapatan Daerah yang Cerdas (Smart Revenue Collection)</a:t>
            </a:r>
          </a:p>
          <a:p>
            <a:pPr algn="l" marL="194312" indent="-97156" lvl="1">
              <a:lnSpc>
                <a:spcPts val="1260"/>
              </a:lnSpc>
              <a:buAutoNum type="arabicPeriod" startAt="1"/>
            </a:pPr>
            <a:r>
              <a:rPr lang="en-US" sz="900">
                <a:solidFill>
                  <a:srgbClr val="1F4894"/>
                </a:solidFill>
                <a:latin typeface="Oxanium"/>
                <a:ea typeface="Oxanium"/>
                <a:cs typeface="Oxanium"/>
                <a:sym typeface="Oxanium"/>
              </a:rPr>
              <a:t>Smart Belanja Daerah</a:t>
            </a:r>
          </a:p>
          <a:p>
            <a:pPr algn="l" marL="194312" indent="-97156" lvl="1">
              <a:lnSpc>
                <a:spcPts val="1260"/>
              </a:lnSpc>
              <a:buAutoNum type="arabicPeriod" startAt="1"/>
            </a:pPr>
            <a:r>
              <a:rPr lang="en-US" sz="900">
                <a:solidFill>
                  <a:srgbClr val="1F4894"/>
                </a:solidFill>
                <a:latin typeface="Oxanium"/>
                <a:ea typeface="Oxanium"/>
                <a:cs typeface="Oxanium"/>
                <a:sym typeface="Oxanium"/>
              </a:rPr>
              <a:t>Smart City</a:t>
            </a:r>
          </a:p>
          <a:p>
            <a:pPr algn="l" marL="194312" indent="-97156" lvl="1">
              <a:lnSpc>
                <a:spcPts val="1260"/>
              </a:lnSpc>
              <a:buAutoNum type="arabicPeriod" startAt="1"/>
            </a:pPr>
            <a:r>
              <a:rPr lang="en-US" sz="900">
                <a:solidFill>
                  <a:srgbClr val="1F4894"/>
                </a:solidFill>
                <a:latin typeface="Oxanium"/>
                <a:ea typeface="Oxanium"/>
                <a:cs typeface="Oxanium"/>
                <a:sym typeface="Oxanium"/>
              </a:rPr>
              <a:t>Penasihat Investasi Daerah</a:t>
            </a:r>
          </a:p>
          <a:p>
            <a:pPr algn="l" marL="194312" indent="-97156" lvl="1">
              <a:lnSpc>
                <a:spcPts val="1260"/>
              </a:lnSpc>
              <a:buAutoNum type="arabicPeriod" startAt="1"/>
            </a:pPr>
            <a:r>
              <a:rPr lang="en-US" sz="900">
                <a:solidFill>
                  <a:srgbClr val="1F4894"/>
                </a:solidFill>
                <a:latin typeface="Oxanium"/>
                <a:ea typeface="Oxanium"/>
                <a:cs typeface="Oxanium"/>
                <a:sym typeface="Oxanium"/>
              </a:rPr>
              <a:t>Project Crowdfunding</a:t>
            </a:r>
          </a:p>
        </p:txBody>
      </p:sp>
      <p:sp>
        <p:nvSpPr>
          <p:cNvPr name="TextBox 18" id="18"/>
          <p:cNvSpPr txBox="true"/>
          <p:nvPr/>
        </p:nvSpPr>
        <p:spPr>
          <a:xfrm rot="0">
            <a:off x="756000" y="6385784"/>
            <a:ext cx="1856928" cy="481330"/>
          </a:xfrm>
          <a:prstGeom prst="rect">
            <a:avLst/>
          </a:prstGeom>
        </p:spPr>
        <p:txBody>
          <a:bodyPr anchor="t" rtlCol="false" tIns="0" lIns="0" bIns="0" rIns="0">
            <a:spAutoFit/>
          </a:bodyPr>
          <a:lstStyle/>
          <a:p>
            <a:pPr algn="ctr">
              <a:lnSpc>
                <a:spcPts val="1820"/>
              </a:lnSpc>
            </a:pPr>
            <a:r>
              <a:rPr lang="en-US" sz="1300">
                <a:solidFill>
                  <a:srgbClr val="1F4894"/>
                </a:solidFill>
                <a:latin typeface="Oxanium"/>
                <a:ea typeface="Oxanium"/>
                <a:cs typeface="Oxanium"/>
                <a:sym typeface="Oxanium"/>
              </a:rPr>
              <a:t>Memperluas I</a:t>
            </a:r>
            <a:r>
              <a:rPr lang="en-US" sz="1300">
                <a:solidFill>
                  <a:srgbClr val="1F4894"/>
                </a:solidFill>
                <a:latin typeface="Oxanium"/>
                <a:ea typeface="Oxanium"/>
                <a:cs typeface="Oxanium"/>
                <a:sym typeface="Oxanium"/>
              </a:rPr>
              <a:t>nvestor Ritel</a:t>
            </a:r>
          </a:p>
        </p:txBody>
      </p:sp>
      <p:sp>
        <p:nvSpPr>
          <p:cNvPr name="TextBox 19" id="19"/>
          <p:cNvSpPr txBox="true"/>
          <p:nvPr/>
        </p:nvSpPr>
        <p:spPr>
          <a:xfrm rot="0">
            <a:off x="756000" y="6905214"/>
            <a:ext cx="1856928" cy="929640"/>
          </a:xfrm>
          <a:prstGeom prst="rect">
            <a:avLst/>
          </a:prstGeom>
        </p:spPr>
        <p:txBody>
          <a:bodyPr anchor="t" rtlCol="false" tIns="0" lIns="0" bIns="0" rIns="0">
            <a:spAutoFit/>
          </a:bodyPr>
          <a:lstStyle/>
          <a:p>
            <a:pPr algn="l" marL="194312" indent="-97156" lvl="1">
              <a:lnSpc>
                <a:spcPts val="1260"/>
              </a:lnSpc>
              <a:buAutoNum type="arabicPeriod" startAt="1"/>
            </a:pPr>
            <a:r>
              <a:rPr lang="en-US" sz="900">
                <a:solidFill>
                  <a:srgbClr val="1F4894"/>
                </a:solidFill>
                <a:latin typeface="Oxanium"/>
                <a:ea typeface="Oxanium"/>
                <a:cs typeface="Oxanium"/>
                <a:sym typeface="Oxanium"/>
              </a:rPr>
              <a:t>Penasihat Investasi Keuangan</a:t>
            </a:r>
          </a:p>
          <a:p>
            <a:pPr algn="l" marL="194312" indent="-97156" lvl="1">
              <a:lnSpc>
                <a:spcPts val="1260"/>
              </a:lnSpc>
              <a:buAutoNum type="arabicPeriod" startAt="1"/>
            </a:pPr>
            <a:r>
              <a:rPr lang="en-US" sz="900">
                <a:solidFill>
                  <a:srgbClr val="1F4894"/>
                </a:solidFill>
                <a:latin typeface="Oxanium"/>
                <a:ea typeface="Oxanium"/>
                <a:cs typeface="Oxanium"/>
                <a:sym typeface="Oxanium"/>
              </a:rPr>
              <a:t>Literasi Investor Ritel</a:t>
            </a:r>
          </a:p>
          <a:p>
            <a:pPr algn="l" marL="194312" indent="-97156" lvl="1">
              <a:lnSpc>
                <a:spcPts val="1260"/>
              </a:lnSpc>
              <a:buAutoNum type="arabicPeriod" startAt="1"/>
            </a:pPr>
            <a:r>
              <a:rPr lang="en-US" sz="900">
                <a:solidFill>
                  <a:srgbClr val="1F4894"/>
                </a:solidFill>
                <a:latin typeface="Oxanium"/>
                <a:ea typeface="Oxanium"/>
                <a:cs typeface="Oxanium"/>
                <a:sym typeface="Oxanium"/>
              </a:rPr>
              <a:t>Asis</a:t>
            </a:r>
            <a:r>
              <a:rPr lang="en-US" sz="900">
                <a:solidFill>
                  <a:srgbClr val="1F4894"/>
                </a:solidFill>
                <a:latin typeface="Oxanium"/>
                <a:ea typeface="Oxanium"/>
                <a:cs typeface="Oxanium"/>
                <a:sym typeface="Oxanium"/>
              </a:rPr>
              <a:t>ten Keuangan Pribadi</a:t>
            </a:r>
          </a:p>
          <a:p>
            <a:pPr algn="l" marL="194312" indent="-97156" lvl="1">
              <a:lnSpc>
                <a:spcPts val="1260"/>
              </a:lnSpc>
              <a:buAutoNum type="arabicPeriod" startAt="1"/>
            </a:pPr>
            <a:r>
              <a:rPr lang="en-US" sz="900">
                <a:solidFill>
                  <a:srgbClr val="1F4894"/>
                </a:solidFill>
                <a:latin typeface="Oxanium"/>
                <a:ea typeface="Oxanium"/>
                <a:cs typeface="Oxanium"/>
                <a:sym typeface="Oxanium"/>
              </a:rPr>
              <a:t>A</a:t>
            </a:r>
            <a:r>
              <a:rPr lang="en-US" sz="900">
                <a:solidFill>
                  <a:srgbClr val="1F4894"/>
                </a:solidFill>
                <a:latin typeface="Oxanium"/>
                <a:ea typeface="Oxanium"/>
                <a:cs typeface="Oxanium"/>
                <a:sym typeface="Oxanium"/>
              </a:rPr>
              <a:t>nalisis Perilaku Pasar</a:t>
            </a:r>
          </a:p>
          <a:p>
            <a:pPr algn="l" marL="194312" indent="-97156" lvl="1">
              <a:lnSpc>
                <a:spcPts val="1260"/>
              </a:lnSpc>
              <a:buAutoNum type="arabicPeriod" startAt="1"/>
            </a:pPr>
            <a:r>
              <a:rPr lang="en-US" sz="900">
                <a:solidFill>
                  <a:srgbClr val="1F4894"/>
                </a:solidFill>
                <a:latin typeface="Oxanium"/>
                <a:ea typeface="Oxanium"/>
                <a:cs typeface="Oxanium"/>
                <a:sym typeface="Oxanium"/>
              </a:rPr>
              <a:t>Rekomendasi Produk Keuangan dan Analisis Risiko</a:t>
            </a:r>
          </a:p>
        </p:txBody>
      </p:sp>
      <p:sp>
        <p:nvSpPr>
          <p:cNvPr name="TextBox 20" id="20"/>
          <p:cNvSpPr txBox="true"/>
          <p:nvPr/>
        </p:nvSpPr>
        <p:spPr>
          <a:xfrm rot="0">
            <a:off x="756000" y="8130129"/>
            <a:ext cx="1856928" cy="481330"/>
          </a:xfrm>
          <a:prstGeom prst="rect">
            <a:avLst/>
          </a:prstGeom>
        </p:spPr>
        <p:txBody>
          <a:bodyPr anchor="t" rtlCol="false" tIns="0" lIns="0" bIns="0" rIns="0">
            <a:spAutoFit/>
          </a:bodyPr>
          <a:lstStyle/>
          <a:p>
            <a:pPr algn="ctr">
              <a:lnSpc>
                <a:spcPts val="1820"/>
              </a:lnSpc>
            </a:pPr>
            <a:r>
              <a:rPr lang="en-US" sz="1300">
                <a:solidFill>
                  <a:srgbClr val="1F4894"/>
                </a:solidFill>
                <a:latin typeface="Oxanium"/>
                <a:ea typeface="Oxanium"/>
                <a:cs typeface="Oxanium"/>
                <a:sym typeface="Oxanium"/>
              </a:rPr>
              <a:t>Digitalisasi K</a:t>
            </a:r>
            <a:r>
              <a:rPr lang="en-US" sz="1300">
                <a:solidFill>
                  <a:srgbClr val="1F4894"/>
                </a:solidFill>
                <a:latin typeface="Oxanium"/>
                <a:ea typeface="Oxanium"/>
                <a:cs typeface="Oxanium"/>
                <a:sym typeface="Oxanium"/>
              </a:rPr>
              <a:t>euangan Syariah</a:t>
            </a:r>
          </a:p>
        </p:txBody>
      </p:sp>
      <p:sp>
        <p:nvSpPr>
          <p:cNvPr name="TextBox 21" id="21"/>
          <p:cNvSpPr txBox="true"/>
          <p:nvPr/>
        </p:nvSpPr>
        <p:spPr>
          <a:xfrm rot="0">
            <a:off x="756000" y="8649559"/>
            <a:ext cx="1856928" cy="929640"/>
          </a:xfrm>
          <a:prstGeom prst="rect">
            <a:avLst/>
          </a:prstGeom>
        </p:spPr>
        <p:txBody>
          <a:bodyPr anchor="t" rtlCol="false" tIns="0" lIns="0" bIns="0" rIns="0">
            <a:spAutoFit/>
          </a:bodyPr>
          <a:lstStyle/>
          <a:p>
            <a:pPr algn="l" marL="194312" indent="-97156" lvl="1">
              <a:lnSpc>
                <a:spcPts val="1260"/>
              </a:lnSpc>
              <a:buAutoNum type="arabicPeriod" startAt="1"/>
            </a:pPr>
            <a:r>
              <a:rPr lang="en-US" sz="900">
                <a:solidFill>
                  <a:srgbClr val="1F4894"/>
                </a:solidFill>
                <a:latin typeface="Oxanium"/>
                <a:ea typeface="Oxanium"/>
                <a:cs typeface="Oxanium"/>
                <a:sym typeface="Oxanium"/>
              </a:rPr>
              <a:t>Investasi SUKUK Digital</a:t>
            </a:r>
          </a:p>
          <a:p>
            <a:pPr algn="l" marL="194312" indent="-97156" lvl="1">
              <a:lnSpc>
                <a:spcPts val="1260"/>
              </a:lnSpc>
              <a:buAutoNum type="arabicPeriod" startAt="1"/>
            </a:pPr>
            <a:r>
              <a:rPr lang="en-US" sz="900">
                <a:solidFill>
                  <a:srgbClr val="1F4894"/>
                </a:solidFill>
                <a:latin typeface="Oxanium"/>
                <a:ea typeface="Oxanium"/>
                <a:cs typeface="Oxanium"/>
                <a:sym typeface="Oxanium"/>
              </a:rPr>
              <a:t>Analitik ZISWAF</a:t>
            </a:r>
          </a:p>
          <a:p>
            <a:pPr algn="l" marL="194312" indent="-97156" lvl="1">
              <a:lnSpc>
                <a:spcPts val="1260"/>
              </a:lnSpc>
              <a:buAutoNum type="arabicPeriod" startAt="1"/>
            </a:pPr>
            <a:r>
              <a:rPr lang="en-US" sz="900">
                <a:solidFill>
                  <a:srgbClr val="1F4894"/>
                </a:solidFill>
                <a:latin typeface="Oxanium"/>
                <a:ea typeface="Oxanium"/>
                <a:cs typeface="Oxanium"/>
                <a:sym typeface="Oxanium"/>
              </a:rPr>
              <a:t>Platform Sertifikasi Halal</a:t>
            </a:r>
          </a:p>
          <a:p>
            <a:pPr algn="l" marL="194312" indent="-97156" lvl="1">
              <a:lnSpc>
                <a:spcPts val="1260"/>
              </a:lnSpc>
              <a:buAutoNum type="arabicPeriod" startAt="1"/>
            </a:pPr>
            <a:r>
              <a:rPr lang="en-US" sz="900">
                <a:solidFill>
                  <a:srgbClr val="1F4894"/>
                </a:solidFill>
                <a:latin typeface="Oxanium"/>
                <a:ea typeface="Oxanium"/>
                <a:cs typeface="Oxanium"/>
                <a:sym typeface="Oxanium"/>
              </a:rPr>
              <a:t>Komersialisasi Produk Pesantren</a:t>
            </a:r>
          </a:p>
          <a:p>
            <a:pPr algn="l" marL="194312" indent="-97156" lvl="1">
              <a:lnSpc>
                <a:spcPts val="1260"/>
              </a:lnSpc>
              <a:buAutoNum type="arabicPeriod" startAt="1"/>
            </a:pPr>
            <a:r>
              <a:rPr lang="en-US" sz="900">
                <a:solidFill>
                  <a:srgbClr val="1F4894"/>
                </a:solidFill>
                <a:latin typeface="Oxanium"/>
                <a:ea typeface="Oxanium"/>
                <a:cs typeface="Oxanium"/>
                <a:sym typeface="Oxanium"/>
              </a:rPr>
              <a:t>Pembiayaan UMKM Syariah</a:t>
            </a:r>
          </a:p>
        </p:txBody>
      </p:sp>
      <p:sp>
        <p:nvSpPr>
          <p:cNvPr name="TextBox 22" id="22"/>
          <p:cNvSpPr txBox="true"/>
          <p:nvPr/>
        </p:nvSpPr>
        <p:spPr>
          <a:xfrm rot="0">
            <a:off x="2929919" y="1538122"/>
            <a:ext cx="1699195" cy="1628775"/>
          </a:xfrm>
          <a:prstGeom prst="rect">
            <a:avLst/>
          </a:prstGeom>
        </p:spPr>
        <p:txBody>
          <a:bodyPr anchor="t" rtlCol="false" tIns="0" lIns="0" bIns="0" rIns="0">
            <a:spAutoFit/>
          </a:bodyPr>
          <a:lstStyle/>
          <a:p>
            <a:pPr algn="ctr">
              <a:lnSpc>
                <a:spcPts val="2100"/>
              </a:lnSpc>
            </a:pPr>
            <a:r>
              <a:rPr lang="en-US" sz="1500">
                <a:solidFill>
                  <a:srgbClr val="1F4894"/>
                </a:solidFill>
                <a:latin typeface="Oxanium"/>
                <a:ea typeface="Oxanium"/>
                <a:cs typeface="Oxanium"/>
                <a:sym typeface="Oxanium"/>
              </a:rPr>
              <a:t>P</a:t>
            </a:r>
            <a:r>
              <a:rPr lang="en-US" sz="1500">
                <a:solidFill>
                  <a:srgbClr val="1F4894"/>
                </a:solidFill>
                <a:latin typeface="Oxanium"/>
                <a:ea typeface="Oxanium"/>
                <a:cs typeface="Oxanium"/>
                <a:sym typeface="Oxanium"/>
              </a:rPr>
              <a:t>eningkatan Produktivitas, Ketahanan Pangan, dan Penciptaan Lapangan Kerja</a:t>
            </a:r>
          </a:p>
        </p:txBody>
      </p:sp>
      <p:sp>
        <p:nvSpPr>
          <p:cNvPr name="TextBox 23" id="23"/>
          <p:cNvSpPr txBox="true"/>
          <p:nvPr/>
        </p:nvSpPr>
        <p:spPr>
          <a:xfrm rot="0">
            <a:off x="2906259" y="3462244"/>
            <a:ext cx="1746515" cy="481330"/>
          </a:xfrm>
          <a:prstGeom prst="rect">
            <a:avLst/>
          </a:prstGeom>
        </p:spPr>
        <p:txBody>
          <a:bodyPr anchor="t" rtlCol="false" tIns="0" lIns="0" bIns="0" rIns="0">
            <a:spAutoFit/>
          </a:bodyPr>
          <a:lstStyle/>
          <a:p>
            <a:pPr algn="ctr">
              <a:lnSpc>
                <a:spcPts val="1820"/>
              </a:lnSpc>
            </a:pPr>
            <a:r>
              <a:rPr lang="en-US" sz="1300">
                <a:solidFill>
                  <a:srgbClr val="1F4894"/>
                </a:solidFill>
                <a:latin typeface="Oxanium"/>
                <a:ea typeface="Oxanium"/>
                <a:cs typeface="Oxanium"/>
                <a:sym typeface="Oxanium"/>
              </a:rPr>
              <a:t>I</a:t>
            </a:r>
            <a:r>
              <a:rPr lang="en-US" sz="1300">
                <a:solidFill>
                  <a:srgbClr val="1F4894"/>
                </a:solidFill>
                <a:latin typeface="Oxanium"/>
                <a:ea typeface="Oxanium"/>
                <a:cs typeface="Oxanium"/>
                <a:sym typeface="Oxanium"/>
              </a:rPr>
              <a:t>nklusi Ekonomi (UMKM)</a:t>
            </a:r>
          </a:p>
        </p:txBody>
      </p:sp>
      <p:sp>
        <p:nvSpPr>
          <p:cNvPr name="TextBox 24" id="24"/>
          <p:cNvSpPr txBox="true"/>
          <p:nvPr/>
        </p:nvSpPr>
        <p:spPr>
          <a:xfrm rot="0">
            <a:off x="2865898" y="3969609"/>
            <a:ext cx="1814854" cy="1386840"/>
          </a:xfrm>
          <a:prstGeom prst="rect">
            <a:avLst/>
          </a:prstGeom>
        </p:spPr>
        <p:txBody>
          <a:bodyPr anchor="t" rtlCol="false" tIns="0" lIns="0" bIns="0" rIns="0">
            <a:spAutoFit/>
          </a:bodyPr>
          <a:lstStyle/>
          <a:p>
            <a:pPr algn="l" marL="194312" indent="-97156" lvl="1">
              <a:lnSpc>
                <a:spcPts val="1260"/>
              </a:lnSpc>
              <a:buAutoNum type="arabicPeriod" startAt="1"/>
            </a:pPr>
            <a:r>
              <a:rPr lang="en-US" sz="900">
                <a:solidFill>
                  <a:srgbClr val="1F4894"/>
                </a:solidFill>
                <a:latin typeface="Oxanium"/>
                <a:ea typeface="Oxanium"/>
                <a:cs typeface="Oxanium"/>
                <a:sym typeface="Oxanium"/>
              </a:rPr>
              <a:t>Pemanfaatan Data Alternatif / Credit Scoring</a:t>
            </a:r>
          </a:p>
          <a:p>
            <a:pPr algn="l" marL="194312" indent="-97156" lvl="1">
              <a:lnSpc>
                <a:spcPts val="1260"/>
              </a:lnSpc>
              <a:buAutoNum type="arabicPeriod" startAt="1"/>
            </a:pPr>
            <a:r>
              <a:rPr lang="en-US" sz="900">
                <a:solidFill>
                  <a:srgbClr val="1F4894"/>
                </a:solidFill>
                <a:latin typeface="Oxanium"/>
                <a:ea typeface="Oxanium"/>
                <a:cs typeface="Oxanium"/>
                <a:sym typeface="Oxanium"/>
              </a:rPr>
              <a:t>Digital Advisor untuk Ekspor UMKM</a:t>
            </a:r>
          </a:p>
          <a:p>
            <a:pPr algn="l" marL="194312" indent="-97156" lvl="1">
              <a:lnSpc>
                <a:spcPts val="1260"/>
              </a:lnSpc>
              <a:buAutoNum type="arabicPeriod" startAt="1"/>
            </a:pPr>
            <a:r>
              <a:rPr lang="en-US" sz="900">
                <a:solidFill>
                  <a:srgbClr val="1F4894"/>
                </a:solidFill>
                <a:latin typeface="Oxanium"/>
                <a:ea typeface="Oxanium"/>
                <a:cs typeface="Oxanium"/>
                <a:sym typeface="Oxanium"/>
              </a:rPr>
              <a:t>Scoring Kesiapan Ekspor</a:t>
            </a:r>
          </a:p>
          <a:p>
            <a:pPr algn="l" marL="194312" indent="-97156" lvl="1">
              <a:lnSpc>
                <a:spcPts val="1260"/>
              </a:lnSpc>
              <a:buAutoNum type="arabicPeriod" startAt="1"/>
            </a:pPr>
            <a:r>
              <a:rPr lang="en-US" sz="900">
                <a:solidFill>
                  <a:srgbClr val="1F4894"/>
                </a:solidFill>
                <a:latin typeface="Oxanium"/>
                <a:ea typeface="Oxanium"/>
                <a:cs typeface="Oxanium"/>
                <a:sym typeface="Oxanium"/>
              </a:rPr>
              <a:t>B2B Matchmaking untuk Bahan Baku</a:t>
            </a:r>
          </a:p>
          <a:p>
            <a:pPr algn="l" marL="194312" indent="-97156" lvl="1">
              <a:lnSpc>
                <a:spcPts val="1260"/>
              </a:lnSpc>
              <a:buAutoNum type="arabicPeriod" startAt="1"/>
            </a:pPr>
            <a:r>
              <a:rPr lang="en-US" sz="900">
                <a:solidFill>
                  <a:srgbClr val="1F4894"/>
                </a:solidFill>
                <a:latin typeface="Oxanium"/>
                <a:ea typeface="Oxanium"/>
                <a:cs typeface="Oxanium"/>
                <a:sym typeface="Oxanium"/>
              </a:rPr>
              <a:t>Matchmaking Pembeli-Penjual Ekspor</a:t>
            </a:r>
          </a:p>
        </p:txBody>
      </p:sp>
      <p:sp>
        <p:nvSpPr>
          <p:cNvPr name="TextBox 25" id="25"/>
          <p:cNvSpPr txBox="true"/>
          <p:nvPr/>
        </p:nvSpPr>
        <p:spPr>
          <a:xfrm rot="0">
            <a:off x="2851053" y="5663669"/>
            <a:ext cx="1856928" cy="481330"/>
          </a:xfrm>
          <a:prstGeom prst="rect">
            <a:avLst/>
          </a:prstGeom>
        </p:spPr>
        <p:txBody>
          <a:bodyPr anchor="t" rtlCol="false" tIns="0" lIns="0" bIns="0" rIns="0">
            <a:spAutoFit/>
          </a:bodyPr>
          <a:lstStyle/>
          <a:p>
            <a:pPr algn="ctr">
              <a:lnSpc>
                <a:spcPts val="1820"/>
              </a:lnSpc>
            </a:pPr>
            <a:r>
              <a:rPr lang="en-US" sz="1300">
                <a:solidFill>
                  <a:srgbClr val="1F4894"/>
                </a:solidFill>
                <a:latin typeface="Oxanium"/>
                <a:ea typeface="Oxanium"/>
                <a:cs typeface="Oxanium"/>
                <a:sym typeface="Oxanium"/>
              </a:rPr>
              <a:t>Digitalisasi Ketah</a:t>
            </a:r>
            <a:r>
              <a:rPr lang="en-US" sz="1300">
                <a:solidFill>
                  <a:srgbClr val="1F4894"/>
                </a:solidFill>
                <a:latin typeface="Oxanium"/>
                <a:ea typeface="Oxanium"/>
                <a:cs typeface="Oxanium"/>
                <a:sym typeface="Oxanium"/>
              </a:rPr>
              <a:t>anan Pangan</a:t>
            </a:r>
          </a:p>
        </p:txBody>
      </p:sp>
      <p:sp>
        <p:nvSpPr>
          <p:cNvPr name="TextBox 26" id="26"/>
          <p:cNvSpPr txBox="true"/>
          <p:nvPr/>
        </p:nvSpPr>
        <p:spPr>
          <a:xfrm rot="0">
            <a:off x="2865898" y="6173573"/>
            <a:ext cx="1856928" cy="1234440"/>
          </a:xfrm>
          <a:prstGeom prst="rect">
            <a:avLst/>
          </a:prstGeom>
        </p:spPr>
        <p:txBody>
          <a:bodyPr anchor="t" rtlCol="false" tIns="0" lIns="0" bIns="0" rIns="0">
            <a:spAutoFit/>
          </a:bodyPr>
          <a:lstStyle/>
          <a:p>
            <a:pPr algn="l" marL="194312" indent="-97156" lvl="1">
              <a:lnSpc>
                <a:spcPts val="1260"/>
              </a:lnSpc>
              <a:buAutoNum type="arabicPeriod" startAt="1"/>
            </a:pPr>
            <a:r>
              <a:rPr lang="en-US" sz="900">
                <a:solidFill>
                  <a:srgbClr val="1F4894"/>
                </a:solidFill>
                <a:latin typeface="Oxanium"/>
                <a:ea typeface="Oxanium"/>
                <a:cs typeface="Oxanium"/>
                <a:sym typeface="Oxanium"/>
              </a:rPr>
              <a:t>Platform Penjualan Langsung dari Petani ke Konsumen</a:t>
            </a:r>
          </a:p>
          <a:p>
            <a:pPr algn="l" marL="194312" indent="-97156" lvl="1">
              <a:lnSpc>
                <a:spcPts val="1260"/>
              </a:lnSpc>
              <a:buAutoNum type="arabicPeriod" startAt="1"/>
            </a:pPr>
            <a:r>
              <a:rPr lang="en-US" sz="900">
                <a:solidFill>
                  <a:srgbClr val="1F4894"/>
                </a:solidFill>
                <a:latin typeface="Oxanium"/>
                <a:ea typeface="Oxanium"/>
                <a:cs typeface="Oxanium"/>
                <a:sym typeface="Oxanium"/>
              </a:rPr>
              <a:t>Platform Matchi</a:t>
            </a:r>
            <a:r>
              <a:rPr lang="en-US" sz="900">
                <a:solidFill>
                  <a:srgbClr val="1F4894"/>
                </a:solidFill>
                <a:latin typeface="Oxanium"/>
                <a:ea typeface="Oxanium"/>
                <a:cs typeface="Oxanium"/>
                <a:sym typeface="Oxanium"/>
              </a:rPr>
              <a:t>ng Demand-Supply Antarwilayah</a:t>
            </a:r>
          </a:p>
          <a:p>
            <a:pPr algn="l" marL="194312" indent="-97156" lvl="1">
              <a:lnSpc>
                <a:spcPts val="1260"/>
              </a:lnSpc>
              <a:buAutoNum type="arabicPeriod" startAt="1"/>
            </a:pPr>
            <a:r>
              <a:rPr lang="en-US" sz="900">
                <a:solidFill>
                  <a:srgbClr val="1F4894"/>
                </a:solidFill>
                <a:latin typeface="Oxanium"/>
                <a:ea typeface="Oxanium"/>
                <a:cs typeface="Oxanium"/>
                <a:sym typeface="Oxanium"/>
              </a:rPr>
              <a:t>Pemantauan Inflasi</a:t>
            </a:r>
          </a:p>
          <a:p>
            <a:pPr algn="l" marL="194312" indent="-97156" lvl="1">
              <a:lnSpc>
                <a:spcPts val="1260"/>
              </a:lnSpc>
              <a:buAutoNum type="arabicPeriod" startAt="1"/>
            </a:pPr>
            <a:r>
              <a:rPr lang="en-US" sz="900">
                <a:solidFill>
                  <a:srgbClr val="1F4894"/>
                </a:solidFill>
                <a:latin typeface="Oxanium"/>
                <a:ea typeface="Oxanium"/>
                <a:cs typeface="Oxanium"/>
                <a:sym typeface="Oxanium"/>
              </a:rPr>
              <a:t>Pembiayaan Petani &amp; Penajaman Sasaran Subsidi</a:t>
            </a:r>
          </a:p>
          <a:p>
            <a:pPr algn="l" marL="194312" indent="-97156" lvl="1">
              <a:lnSpc>
                <a:spcPts val="1260"/>
              </a:lnSpc>
              <a:buAutoNum type="arabicPeriod" startAt="1"/>
            </a:pPr>
            <a:r>
              <a:rPr lang="en-US" sz="900">
                <a:solidFill>
                  <a:srgbClr val="1F4894"/>
                </a:solidFill>
                <a:latin typeface="Oxanium"/>
                <a:ea typeface="Oxanium"/>
                <a:cs typeface="Oxanium"/>
                <a:sym typeface="Oxanium"/>
              </a:rPr>
              <a:t>Lo</a:t>
            </a:r>
            <a:r>
              <a:rPr lang="en-US" sz="900">
                <a:solidFill>
                  <a:srgbClr val="1F4894"/>
                </a:solidFill>
                <a:latin typeface="Oxanium"/>
                <a:ea typeface="Oxanium"/>
                <a:cs typeface="Oxanium"/>
                <a:sym typeface="Oxanium"/>
              </a:rPr>
              <a:t>gistik Pangan Cerdas</a:t>
            </a:r>
          </a:p>
        </p:txBody>
      </p:sp>
      <p:sp>
        <p:nvSpPr>
          <p:cNvPr name="TextBox 27" id="27"/>
          <p:cNvSpPr txBox="true"/>
          <p:nvPr/>
        </p:nvSpPr>
        <p:spPr>
          <a:xfrm rot="0">
            <a:off x="2996184" y="7703288"/>
            <a:ext cx="1596356" cy="709930"/>
          </a:xfrm>
          <a:prstGeom prst="rect">
            <a:avLst/>
          </a:prstGeom>
        </p:spPr>
        <p:txBody>
          <a:bodyPr anchor="t" rtlCol="false" tIns="0" lIns="0" bIns="0" rIns="0">
            <a:spAutoFit/>
          </a:bodyPr>
          <a:lstStyle/>
          <a:p>
            <a:pPr algn="ctr">
              <a:lnSpc>
                <a:spcPts val="1820"/>
              </a:lnSpc>
            </a:pPr>
            <a:r>
              <a:rPr lang="en-US" sz="1300">
                <a:solidFill>
                  <a:srgbClr val="1F4894"/>
                </a:solidFill>
                <a:latin typeface="Oxanium"/>
                <a:ea typeface="Oxanium"/>
                <a:cs typeface="Oxanium"/>
                <a:sym typeface="Oxanium"/>
              </a:rPr>
              <a:t>Digitalisasi Pencipta</a:t>
            </a:r>
            <a:r>
              <a:rPr lang="en-US" sz="1300">
                <a:solidFill>
                  <a:srgbClr val="1F4894"/>
                </a:solidFill>
                <a:latin typeface="Oxanium"/>
                <a:ea typeface="Oxanium"/>
                <a:cs typeface="Oxanium"/>
                <a:sym typeface="Oxanium"/>
              </a:rPr>
              <a:t>an Lapangan Kerja</a:t>
            </a:r>
          </a:p>
        </p:txBody>
      </p:sp>
      <p:sp>
        <p:nvSpPr>
          <p:cNvPr name="TextBox 28" id="28"/>
          <p:cNvSpPr txBox="true"/>
          <p:nvPr/>
        </p:nvSpPr>
        <p:spPr>
          <a:xfrm rot="0">
            <a:off x="2865898" y="8441793"/>
            <a:ext cx="1856928" cy="1082040"/>
          </a:xfrm>
          <a:prstGeom prst="rect">
            <a:avLst/>
          </a:prstGeom>
        </p:spPr>
        <p:txBody>
          <a:bodyPr anchor="t" rtlCol="false" tIns="0" lIns="0" bIns="0" rIns="0">
            <a:spAutoFit/>
          </a:bodyPr>
          <a:lstStyle/>
          <a:p>
            <a:pPr algn="l" marL="194312" indent="-97156" lvl="1">
              <a:lnSpc>
                <a:spcPts val="1260"/>
              </a:lnSpc>
              <a:buAutoNum type="arabicPeriod" startAt="1"/>
            </a:pPr>
            <a:r>
              <a:rPr lang="en-US" sz="900">
                <a:solidFill>
                  <a:srgbClr val="1F4894"/>
                </a:solidFill>
                <a:latin typeface="Oxanium"/>
                <a:ea typeface="Oxanium"/>
                <a:cs typeface="Oxanium"/>
                <a:sym typeface="Oxanium"/>
              </a:rPr>
              <a:t>Platform Job Matching Berbasis Kecerdasan Artifisial</a:t>
            </a:r>
          </a:p>
          <a:p>
            <a:pPr algn="l" marL="194312" indent="-97156" lvl="1">
              <a:lnSpc>
                <a:spcPts val="1260"/>
              </a:lnSpc>
              <a:buAutoNum type="arabicPeriod" startAt="1"/>
            </a:pPr>
            <a:r>
              <a:rPr lang="en-US" sz="900">
                <a:solidFill>
                  <a:srgbClr val="1F4894"/>
                </a:solidFill>
                <a:latin typeface="Oxanium"/>
                <a:ea typeface="Oxanium"/>
                <a:cs typeface="Oxanium"/>
                <a:sym typeface="Oxanium"/>
              </a:rPr>
              <a:t>Skill</a:t>
            </a:r>
            <a:r>
              <a:rPr lang="en-US" sz="900">
                <a:solidFill>
                  <a:srgbClr val="1F4894"/>
                </a:solidFill>
                <a:latin typeface="Oxanium"/>
                <a:ea typeface="Oxanium"/>
                <a:cs typeface="Oxanium"/>
                <a:sym typeface="Oxanium"/>
              </a:rPr>
              <a:t> Gap Advisor</a:t>
            </a:r>
          </a:p>
          <a:p>
            <a:pPr algn="l" marL="194312" indent="-97156" lvl="1">
              <a:lnSpc>
                <a:spcPts val="1260"/>
              </a:lnSpc>
              <a:buAutoNum type="arabicPeriod" startAt="1"/>
            </a:pPr>
            <a:r>
              <a:rPr lang="en-US" sz="900">
                <a:solidFill>
                  <a:srgbClr val="1F4894"/>
                </a:solidFill>
                <a:latin typeface="Oxanium"/>
                <a:ea typeface="Oxanium"/>
                <a:cs typeface="Oxanium"/>
                <a:sym typeface="Oxanium"/>
              </a:rPr>
              <a:t>Personalized Training</a:t>
            </a:r>
          </a:p>
          <a:p>
            <a:pPr algn="l" marL="194312" indent="-97156" lvl="1">
              <a:lnSpc>
                <a:spcPts val="1260"/>
              </a:lnSpc>
              <a:buAutoNum type="arabicPeriod" startAt="1"/>
            </a:pPr>
            <a:r>
              <a:rPr lang="en-US" sz="900">
                <a:solidFill>
                  <a:srgbClr val="1F4894"/>
                </a:solidFill>
                <a:latin typeface="Oxanium"/>
                <a:ea typeface="Oxanium"/>
                <a:cs typeface="Oxanium"/>
                <a:sym typeface="Oxanium"/>
              </a:rPr>
              <a:t>Analitik Kesesuaian Pekerjaan dan Tenaga Kerja</a:t>
            </a:r>
          </a:p>
          <a:p>
            <a:pPr algn="l" marL="194312" indent="-97156" lvl="1">
              <a:lnSpc>
                <a:spcPts val="1260"/>
              </a:lnSpc>
              <a:buAutoNum type="arabicPeriod" startAt="1"/>
            </a:pPr>
            <a:r>
              <a:rPr lang="en-US" sz="900">
                <a:solidFill>
                  <a:srgbClr val="1F4894"/>
                </a:solidFill>
                <a:latin typeface="Oxanium"/>
                <a:ea typeface="Oxanium"/>
                <a:cs typeface="Oxanium"/>
                <a:sym typeface="Oxanium"/>
              </a:rPr>
              <a:t>Job Ma</a:t>
            </a:r>
            <a:r>
              <a:rPr lang="en-US" sz="900">
                <a:solidFill>
                  <a:srgbClr val="1F4894"/>
                </a:solidFill>
                <a:latin typeface="Oxanium"/>
                <a:ea typeface="Oxanium"/>
                <a:cs typeface="Oxanium"/>
                <a:sym typeface="Oxanium"/>
              </a:rPr>
              <a:t>tching Antarwilayah</a:t>
            </a:r>
          </a:p>
        </p:txBody>
      </p:sp>
      <p:sp>
        <p:nvSpPr>
          <p:cNvPr name="TextBox 29" id="29"/>
          <p:cNvSpPr txBox="true"/>
          <p:nvPr/>
        </p:nvSpPr>
        <p:spPr>
          <a:xfrm rot="0">
            <a:off x="5025455" y="1538122"/>
            <a:ext cx="1699195" cy="1362075"/>
          </a:xfrm>
          <a:prstGeom prst="rect">
            <a:avLst/>
          </a:prstGeom>
        </p:spPr>
        <p:txBody>
          <a:bodyPr anchor="t" rtlCol="false" tIns="0" lIns="0" bIns="0" rIns="0">
            <a:spAutoFit/>
          </a:bodyPr>
          <a:lstStyle/>
          <a:p>
            <a:pPr algn="ctr">
              <a:lnSpc>
                <a:spcPts val="2100"/>
              </a:lnSpc>
            </a:pPr>
            <a:r>
              <a:rPr lang="en-US" sz="1500">
                <a:solidFill>
                  <a:srgbClr val="1F4894"/>
                </a:solidFill>
                <a:latin typeface="Oxanium"/>
                <a:ea typeface="Oxanium"/>
                <a:cs typeface="Oxanium"/>
                <a:sym typeface="Oxanium"/>
              </a:rPr>
              <a:t>P</a:t>
            </a:r>
            <a:r>
              <a:rPr lang="en-US" sz="1500">
                <a:solidFill>
                  <a:srgbClr val="1F4894"/>
                </a:solidFill>
                <a:latin typeface="Oxanium"/>
                <a:ea typeface="Oxanium"/>
                <a:cs typeface="Oxanium"/>
                <a:sym typeface="Oxanium"/>
              </a:rPr>
              <a:t>ercepatan Layanan Publik, Ekonomi Kreatif, dan Ekspor Jasa Digital</a:t>
            </a:r>
          </a:p>
        </p:txBody>
      </p:sp>
      <p:sp>
        <p:nvSpPr>
          <p:cNvPr name="TextBox 30" id="30"/>
          <p:cNvSpPr txBox="true"/>
          <p:nvPr/>
        </p:nvSpPr>
        <p:spPr>
          <a:xfrm rot="0">
            <a:off x="4946105" y="3194787"/>
            <a:ext cx="1856928" cy="481330"/>
          </a:xfrm>
          <a:prstGeom prst="rect">
            <a:avLst/>
          </a:prstGeom>
        </p:spPr>
        <p:txBody>
          <a:bodyPr anchor="t" rtlCol="false" tIns="0" lIns="0" bIns="0" rIns="0">
            <a:spAutoFit/>
          </a:bodyPr>
          <a:lstStyle/>
          <a:p>
            <a:pPr algn="ctr">
              <a:lnSpc>
                <a:spcPts val="1820"/>
              </a:lnSpc>
            </a:pPr>
            <a:r>
              <a:rPr lang="en-US" sz="1300">
                <a:solidFill>
                  <a:srgbClr val="1F4894"/>
                </a:solidFill>
                <a:latin typeface="Oxanium"/>
                <a:ea typeface="Oxanium"/>
                <a:cs typeface="Oxanium"/>
                <a:sym typeface="Oxanium"/>
              </a:rPr>
              <a:t>Digitalisasi Lay</a:t>
            </a:r>
            <a:r>
              <a:rPr lang="en-US" sz="1300">
                <a:solidFill>
                  <a:srgbClr val="1F4894"/>
                </a:solidFill>
                <a:latin typeface="Oxanium"/>
                <a:ea typeface="Oxanium"/>
                <a:cs typeface="Oxanium"/>
                <a:sym typeface="Oxanium"/>
              </a:rPr>
              <a:t>anan Publik &amp; Pariwisata</a:t>
            </a:r>
          </a:p>
        </p:txBody>
      </p:sp>
      <p:sp>
        <p:nvSpPr>
          <p:cNvPr name="TextBox 31" id="31"/>
          <p:cNvSpPr txBox="true"/>
          <p:nvPr/>
        </p:nvSpPr>
        <p:spPr>
          <a:xfrm rot="0">
            <a:off x="4937498" y="3693384"/>
            <a:ext cx="1856928" cy="1539240"/>
          </a:xfrm>
          <a:prstGeom prst="rect">
            <a:avLst/>
          </a:prstGeom>
        </p:spPr>
        <p:txBody>
          <a:bodyPr anchor="t" rtlCol="false" tIns="0" lIns="0" bIns="0" rIns="0">
            <a:spAutoFit/>
          </a:bodyPr>
          <a:lstStyle/>
          <a:p>
            <a:pPr algn="l" marL="194312" indent="-97156" lvl="1">
              <a:lnSpc>
                <a:spcPts val="1260"/>
              </a:lnSpc>
              <a:buAutoNum type="arabicPeriod" startAt="1"/>
            </a:pPr>
            <a:r>
              <a:rPr lang="en-US" sz="900">
                <a:solidFill>
                  <a:srgbClr val="1F4894"/>
                </a:solidFill>
                <a:latin typeface="Oxanium"/>
                <a:ea typeface="Oxanium"/>
                <a:cs typeface="Oxanium"/>
                <a:sym typeface="Oxanium"/>
              </a:rPr>
              <a:t>Integrated Smart Ticketing</a:t>
            </a:r>
          </a:p>
          <a:p>
            <a:pPr algn="l" marL="194312" indent="-97156" lvl="1">
              <a:lnSpc>
                <a:spcPts val="1260"/>
              </a:lnSpc>
              <a:buAutoNum type="arabicPeriod" startAt="1"/>
            </a:pPr>
            <a:r>
              <a:rPr lang="en-US" sz="900">
                <a:solidFill>
                  <a:srgbClr val="1F4894"/>
                </a:solidFill>
                <a:latin typeface="Oxanium"/>
                <a:ea typeface="Oxanium"/>
                <a:cs typeface="Oxanium"/>
                <a:sym typeface="Oxanium"/>
              </a:rPr>
              <a:t>Personalisasi</a:t>
            </a:r>
            <a:r>
              <a:rPr lang="en-US" sz="900">
                <a:solidFill>
                  <a:srgbClr val="1F4894"/>
                </a:solidFill>
                <a:latin typeface="Oxanium"/>
                <a:ea typeface="Oxanium"/>
                <a:cs typeface="Oxanium"/>
                <a:sym typeface="Oxanium"/>
              </a:rPr>
              <a:t> Pengalaman Pariwisata</a:t>
            </a:r>
          </a:p>
          <a:p>
            <a:pPr algn="l" marL="194312" indent="-97156" lvl="1">
              <a:lnSpc>
                <a:spcPts val="1260"/>
              </a:lnSpc>
              <a:buAutoNum type="arabicPeriod" startAt="1"/>
            </a:pPr>
            <a:r>
              <a:rPr lang="en-US" sz="900">
                <a:solidFill>
                  <a:srgbClr val="1F4894"/>
                </a:solidFill>
                <a:latin typeface="Oxanium"/>
                <a:ea typeface="Oxanium"/>
                <a:cs typeface="Oxanium"/>
                <a:sym typeface="Oxanium"/>
              </a:rPr>
              <a:t>Platform Perizinan dan Pengawasan Vendor MBG</a:t>
            </a:r>
          </a:p>
          <a:p>
            <a:pPr algn="l" marL="194312" indent="-97156" lvl="1">
              <a:lnSpc>
                <a:spcPts val="1260"/>
              </a:lnSpc>
              <a:buAutoNum type="arabicPeriod" startAt="1"/>
            </a:pPr>
            <a:r>
              <a:rPr lang="en-US" sz="900">
                <a:solidFill>
                  <a:srgbClr val="1F4894"/>
                </a:solidFill>
                <a:latin typeface="Oxanium"/>
                <a:ea typeface="Oxanium"/>
                <a:cs typeface="Oxanium"/>
                <a:sym typeface="Oxanium"/>
              </a:rPr>
              <a:t>Pengayaan Data untuk Penyaluran Bantuan Sosial Digital</a:t>
            </a:r>
          </a:p>
          <a:p>
            <a:pPr algn="l" marL="194312" indent="-97156" lvl="1">
              <a:lnSpc>
                <a:spcPts val="1260"/>
              </a:lnSpc>
              <a:buAutoNum type="arabicPeriod" startAt="1"/>
            </a:pPr>
            <a:r>
              <a:rPr lang="en-US" sz="900">
                <a:solidFill>
                  <a:srgbClr val="1F4894"/>
                </a:solidFill>
                <a:latin typeface="Oxanium"/>
                <a:ea typeface="Oxanium"/>
                <a:cs typeface="Oxanium"/>
                <a:sym typeface="Oxanium"/>
              </a:rPr>
              <a:t>Pemantauan dan Restorasi Lingkungan</a:t>
            </a:r>
          </a:p>
        </p:txBody>
      </p:sp>
      <p:sp>
        <p:nvSpPr>
          <p:cNvPr name="TextBox 32" id="32"/>
          <p:cNvSpPr txBox="true"/>
          <p:nvPr/>
        </p:nvSpPr>
        <p:spPr>
          <a:xfrm rot="0">
            <a:off x="4969454" y="5527899"/>
            <a:ext cx="1834546" cy="481330"/>
          </a:xfrm>
          <a:prstGeom prst="rect">
            <a:avLst/>
          </a:prstGeom>
        </p:spPr>
        <p:txBody>
          <a:bodyPr anchor="t" rtlCol="false" tIns="0" lIns="0" bIns="0" rIns="0">
            <a:spAutoFit/>
          </a:bodyPr>
          <a:lstStyle/>
          <a:p>
            <a:pPr algn="ctr">
              <a:lnSpc>
                <a:spcPts val="1820"/>
              </a:lnSpc>
            </a:pPr>
            <a:r>
              <a:rPr lang="en-US" sz="1300">
                <a:solidFill>
                  <a:srgbClr val="1F4894"/>
                </a:solidFill>
                <a:latin typeface="Oxanium"/>
                <a:ea typeface="Oxanium"/>
                <a:cs typeface="Oxanium"/>
                <a:sym typeface="Oxanium"/>
              </a:rPr>
              <a:t>Digitalisasi Eko</a:t>
            </a:r>
            <a:r>
              <a:rPr lang="en-US" sz="1300">
                <a:solidFill>
                  <a:srgbClr val="1F4894"/>
                </a:solidFill>
                <a:latin typeface="Oxanium"/>
                <a:ea typeface="Oxanium"/>
                <a:cs typeface="Oxanium"/>
                <a:sym typeface="Oxanium"/>
              </a:rPr>
              <a:t>nomi Kreatif</a:t>
            </a:r>
          </a:p>
        </p:txBody>
      </p:sp>
      <p:sp>
        <p:nvSpPr>
          <p:cNvPr name="TextBox 33" id="33"/>
          <p:cNvSpPr txBox="true"/>
          <p:nvPr/>
        </p:nvSpPr>
        <p:spPr>
          <a:xfrm rot="0">
            <a:off x="4960951" y="6026497"/>
            <a:ext cx="1834546" cy="1082040"/>
          </a:xfrm>
          <a:prstGeom prst="rect">
            <a:avLst/>
          </a:prstGeom>
        </p:spPr>
        <p:txBody>
          <a:bodyPr anchor="t" rtlCol="false" tIns="0" lIns="0" bIns="0" rIns="0">
            <a:spAutoFit/>
          </a:bodyPr>
          <a:lstStyle/>
          <a:p>
            <a:pPr algn="l" marL="194312" indent="-97156" lvl="1">
              <a:lnSpc>
                <a:spcPts val="1260"/>
              </a:lnSpc>
              <a:buAutoNum type="arabicPeriod" startAt="1"/>
            </a:pPr>
            <a:r>
              <a:rPr lang="en-US" sz="900">
                <a:solidFill>
                  <a:srgbClr val="1F4894"/>
                </a:solidFill>
                <a:latin typeface="Oxanium"/>
                <a:ea typeface="Oxanium"/>
                <a:cs typeface="Oxanium"/>
                <a:sym typeface="Oxanium"/>
              </a:rPr>
              <a:t>Permainan untuk Nasionalisme dan Edukasi</a:t>
            </a:r>
          </a:p>
          <a:p>
            <a:pPr algn="l" marL="194312" indent="-97156" lvl="1">
              <a:lnSpc>
                <a:spcPts val="1260"/>
              </a:lnSpc>
              <a:buAutoNum type="arabicPeriod" startAt="1"/>
            </a:pPr>
            <a:r>
              <a:rPr lang="en-US" sz="900">
                <a:solidFill>
                  <a:srgbClr val="1F4894"/>
                </a:solidFill>
                <a:latin typeface="Oxanium"/>
                <a:ea typeface="Oxanium"/>
                <a:cs typeface="Oxanium"/>
                <a:sym typeface="Oxanium"/>
              </a:rPr>
              <a:t>A</a:t>
            </a:r>
            <a:r>
              <a:rPr lang="en-US" sz="900">
                <a:solidFill>
                  <a:srgbClr val="1F4894"/>
                </a:solidFill>
                <a:latin typeface="Oxanium"/>
                <a:ea typeface="Oxanium"/>
                <a:cs typeface="Oxanium"/>
                <a:sym typeface="Oxanium"/>
              </a:rPr>
              <a:t>nimasi</a:t>
            </a:r>
          </a:p>
          <a:p>
            <a:pPr algn="l" marL="194312" indent="-97156" lvl="1">
              <a:lnSpc>
                <a:spcPts val="1260"/>
              </a:lnSpc>
              <a:buAutoNum type="arabicPeriod" startAt="1"/>
            </a:pPr>
            <a:r>
              <a:rPr lang="en-US" sz="900">
                <a:solidFill>
                  <a:srgbClr val="1F4894"/>
                </a:solidFill>
                <a:latin typeface="Oxanium"/>
                <a:ea typeface="Oxanium"/>
                <a:cs typeface="Oxanium"/>
                <a:sym typeface="Oxanium"/>
              </a:rPr>
              <a:t>Digitalisasi Museum dan Warisan Budaya</a:t>
            </a:r>
          </a:p>
          <a:p>
            <a:pPr algn="l" marL="194312" indent="-97156" lvl="1">
              <a:lnSpc>
                <a:spcPts val="1260"/>
              </a:lnSpc>
              <a:buAutoNum type="arabicPeriod" startAt="1"/>
            </a:pPr>
            <a:r>
              <a:rPr lang="en-US" sz="900">
                <a:solidFill>
                  <a:srgbClr val="1F4894"/>
                </a:solidFill>
                <a:latin typeface="Oxanium"/>
                <a:ea typeface="Oxanium"/>
                <a:cs typeface="Oxanium"/>
                <a:sym typeface="Oxanium"/>
              </a:rPr>
              <a:t>IP Protection</a:t>
            </a:r>
          </a:p>
          <a:p>
            <a:pPr algn="l" marL="194312" indent="-97156" lvl="1">
              <a:lnSpc>
                <a:spcPts val="1260"/>
              </a:lnSpc>
              <a:buAutoNum type="arabicPeriod" startAt="1"/>
            </a:pPr>
            <a:r>
              <a:rPr lang="en-US" sz="900">
                <a:solidFill>
                  <a:srgbClr val="1F4894"/>
                </a:solidFill>
                <a:latin typeface="Oxanium"/>
                <a:ea typeface="Oxanium"/>
                <a:cs typeface="Oxanium"/>
                <a:sym typeface="Oxanium"/>
              </a:rPr>
              <a:t>Market Insight Industri Kreatif</a:t>
            </a:r>
          </a:p>
        </p:txBody>
      </p:sp>
      <p:sp>
        <p:nvSpPr>
          <p:cNvPr name="TextBox 34" id="34"/>
          <p:cNvSpPr txBox="true"/>
          <p:nvPr/>
        </p:nvSpPr>
        <p:spPr>
          <a:xfrm rot="0">
            <a:off x="4977958" y="7403811"/>
            <a:ext cx="1834546" cy="481330"/>
          </a:xfrm>
          <a:prstGeom prst="rect">
            <a:avLst/>
          </a:prstGeom>
        </p:spPr>
        <p:txBody>
          <a:bodyPr anchor="t" rtlCol="false" tIns="0" lIns="0" bIns="0" rIns="0">
            <a:spAutoFit/>
          </a:bodyPr>
          <a:lstStyle/>
          <a:p>
            <a:pPr algn="ctr">
              <a:lnSpc>
                <a:spcPts val="1820"/>
              </a:lnSpc>
            </a:pPr>
            <a:r>
              <a:rPr lang="en-US" sz="1300">
                <a:solidFill>
                  <a:srgbClr val="1F4894"/>
                </a:solidFill>
                <a:latin typeface="Oxanium"/>
                <a:ea typeface="Oxanium"/>
                <a:cs typeface="Oxanium"/>
                <a:sym typeface="Oxanium"/>
              </a:rPr>
              <a:t>Digitalisasi Ekspor Laya</a:t>
            </a:r>
            <a:r>
              <a:rPr lang="en-US" sz="1300">
                <a:solidFill>
                  <a:srgbClr val="1F4894"/>
                </a:solidFill>
                <a:latin typeface="Oxanium"/>
                <a:ea typeface="Oxanium"/>
                <a:cs typeface="Oxanium"/>
                <a:sym typeface="Oxanium"/>
              </a:rPr>
              <a:t>nan Digital</a:t>
            </a:r>
          </a:p>
        </p:txBody>
      </p:sp>
      <p:sp>
        <p:nvSpPr>
          <p:cNvPr name="TextBox 35" id="35"/>
          <p:cNvSpPr txBox="true"/>
          <p:nvPr/>
        </p:nvSpPr>
        <p:spPr>
          <a:xfrm rot="0">
            <a:off x="4969454" y="7902409"/>
            <a:ext cx="1834546" cy="1234440"/>
          </a:xfrm>
          <a:prstGeom prst="rect">
            <a:avLst/>
          </a:prstGeom>
        </p:spPr>
        <p:txBody>
          <a:bodyPr anchor="t" rtlCol="false" tIns="0" lIns="0" bIns="0" rIns="0">
            <a:spAutoFit/>
          </a:bodyPr>
          <a:lstStyle/>
          <a:p>
            <a:pPr algn="l" marL="194312" indent="-97156" lvl="1">
              <a:lnSpc>
                <a:spcPts val="1260"/>
              </a:lnSpc>
              <a:buAutoNum type="arabicPeriod" startAt="1"/>
            </a:pPr>
            <a:r>
              <a:rPr lang="en-US" sz="900">
                <a:solidFill>
                  <a:srgbClr val="1F4894"/>
                </a:solidFill>
                <a:latin typeface="Oxanium"/>
                <a:ea typeface="Oxanium"/>
                <a:cs typeface="Oxanium"/>
                <a:sym typeface="Oxanium"/>
              </a:rPr>
              <a:t>Platform Kerja Jarak Jauh (Remote-work)</a:t>
            </a:r>
          </a:p>
          <a:p>
            <a:pPr algn="l" marL="194312" indent="-97156" lvl="1">
              <a:lnSpc>
                <a:spcPts val="1260"/>
              </a:lnSpc>
              <a:buAutoNum type="arabicPeriod" startAt="1"/>
            </a:pPr>
            <a:r>
              <a:rPr lang="en-US" sz="900">
                <a:solidFill>
                  <a:srgbClr val="1F4894"/>
                </a:solidFill>
                <a:latin typeface="Oxanium"/>
                <a:ea typeface="Oxanium"/>
                <a:cs typeface="Oxanium"/>
                <a:sym typeface="Oxanium"/>
              </a:rPr>
              <a:t>Layanan IT &amp; Software</a:t>
            </a:r>
          </a:p>
          <a:p>
            <a:pPr algn="l" marL="194312" indent="-97156" lvl="1">
              <a:lnSpc>
                <a:spcPts val="1260"/>
              </a:lnSpc>
              <a:buAutoNum type="arabicPeriod" startAt="1"/>
            </a:pPr>
            <a:r>
              <a:rPr lang="en-US" sz="900">
                <a:solidFill>
                  <a:srgbClr val="1F4894"/>
                </a:solidFill>
                <a:latin typeface="Oxanium"/>
                <a:ea typeface="Oxanium"/>
                <a:cs typeface="Oxanium"/>
                <a:sym typeface="Oxanium"/>
              </a:rPr>
              <a:t>Penyelesaian Transaksi L</a:t>
            </a:r>
            <a:r>
              <a:rPr lang="en-US" sz="900">
                <a:solidFill>
                  <a:srgbClr val="1F4894"/>
                </a:solidFill>
                <a:latin typeface="Oxanium"/>
                <a:ea typeface="Oxanium"/>
                <a:cs typeface="Oxanium"/>
                <a:sym typeface="Oxanium"/>
              </a:rPr>
              <a:t>intas Negara (Cross-Border)</a:t>
            </a:r>
          </a:p>
          <a:p>
            <a:pPr algn="l" marL="194312" indent="-97156" lvl="1">
              <a:lnSpc>
                <a:spcPts val="1260"/>
              </a:lnSpc>
              <a:buAutoNum type="arabicPeriod" startAt="1"/>
            </a:pPr>
            <a:r>
              <a:rPr lang="en-US" sz="900">
                <a:solidFill>
                  <a:srgbClr val="1F4894"/>
                </a:solidFill>
                <a:latin typeface="Oxanium"/>
                <a:ea typeface="Oxanium"/>
                <a:cs typeface="Oxanium"/>
                <a:sym typeface="Oxanium"/>
              </a:rPr>
              <a:t>O</a:t>
            </a:r>
            <a:r>
              <a:rPr lang="en-US" sz="900">
                <a:solidFill>
                  <a:srgbClr val="1F4894"/>
                </a:solidFill>
                <a:latin typeface="Oxanium"/>
                <a:ea typeface="Oxanium"/>
                <a:cs typeface="Oxanium"/>
                <a:sym typeface="Oxanium"/>
              </a:rPr>
              <a:t>tomatisasi Layanan Pelanggan Multibahasa</a:t>
            </a:r>
          </a:p>
          <a:p>
            <a:pPr algn="l" marL="194312" indent="-97156" lvl="1">
              <a:lnSpc>
                <a:spcPts val="1260"/>
              </a:lnSpc>
              <a:buAutoNum type="arabicPeriod" startAt="1"/>
            </a:pPr>
            <a:r>
              <a:rPr lang="en-US" sz="900">
                <a:solidFill>
                  <a:srgbClr val="1F4894"/>
                </a:solidFill>
                <a:latin typeface="Oxanium"/>
                <a:ea typeface="Oxanium"/>
                <a:cs typeface="Oxanium"/>
                <a:sym typeface="Oxanium"/>
              </a:rPr>
              <a:t>L</a:t>
            </a:r>
            <a:r>
              <a:rPr lang="en-US" sz="900">
                <a:solidFill>
                  <a:srgbClr val="1F4894"/>
                </a:solidFill>
                <a:latin typeface="Oxanium"/>
                <a:ea typeface="Oxanium"/>
                <a:cs typeface="Oxanium"/>
                <a:sym typeface="Oxanium"/>
              </a:rPr>
              <a:t>ocal Language AI (LLM)</a:t>
            </a:r>
          </a:p>
        </p:txBody>
      </p:sp>
    </p:spTree>
  </p:cSld>
  <p:clrMapOvr>
    <a:masterClrMapping/>
  </p:clrMapOvr>
</p:sld>
</file>

<file path=ppt/slides/slide4.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2150333" y="1253850"/>
            <a:ext cx="4644093" cy="312179"/>
            <a:chOff x="0" y="0"/>
            <a:chExt cx="1300264" cy="87405"/>
          </a:xfrm>
        </p:grpSpPr>
        <p:sp>
          <p:nvSpPr>
            <p:cNvPr name="Freeform 3" id="3"/>
            <p:cNvSpPr/>
            <p:nvPr/>
          </p:nvSpPr>
          <p:spPr>
            <a:xfrm flipH="false" flipV="false" rot="0">
              <a:off x="0" y="0"/>
              <a:ext cx="1300264" cy="87405"/>
            </a:xfrm>
            <a:custGeom>
              <a:avLst/>
              <a:gdLst/>
              <a:ahLst/>
              <a:cxnLst/>
              <a:rect r="r" b="b" t="t" l="l"/>
              <a:pathLst>
                <a:path h="87405" w="1300264">
                  <a:moveTo>
                    <a:pt x="0" y="0"/>
                  </a:moveTo>
                  <a:lnTo>
                    <a:pt x="1300264" y="0"/>
                  </a:lnTo>
                  <a:lnTo>
                    <a:pt x="1300264" y="87405"/>
                  </a:lnTo>
                  <a:lnTo>
                    <a:pt x="0" y="87405"/>
                  </a:lnTo>
                  <a:close/>
                </a:path>
              </a:pathLst>
            </a:custGeom>
            <a:solidFill>
              <a:srgbClr val="FFFFFF"/>
            </a:solidFill>
          </p:spPr>
        </p:sp>
        <p:sp>
          <p:nvSpPr>
            <p:cNvPr name="TextBox 4" id="4"/>
            <p:cNvSpPr txBox="true"/>
            <p:nvPr/>
          </p:nvSpPr>
          <p:spPr>
            <a:xfrm>
              <a:off x="0" y="-38100"/>
              <a:ext cx="1300264" cy="125505"/>
            </a:xfrm>
            <a:prstGeom prst="rect">
              <a:avLst/>
            </a:prstGeom>
          </p:spPr>
          <p:txBody>
            <a:bodyPr anchor="ctr" rtlCol="false" tIns="50800" lIns="50800" bIns="50800" rIns="50800"/>
            <a:lstStyle/>
            <a:p>
              <a:pPr algn="ctr">
                <a:lnSpc>
                  <a:spcPts val="1820"/>
                </a:lnSpc>
              </a:pPr>
            </a:p>
          </p:txBody>
        </p:sp>
      </p:grpSp>
      <p:sp>
        <p:nvSpPr>
          <p:cNvPr name="TextBox 5" id="5"/>
          <p:cNvSpPr txBox="true"/>
          <p:nvPr/>
        </p:nvSpPr>
        <p:spPr>
          <a:xfrm rot="0">
            <a:off x="756000" y="679800"/>
            <a:ext cx="6048000" cy="377825"/>
          </a:xfrm>
          <a:prstGeom prst="rect">
            <a:avLst/>
          </a:prstGeom>
        </p:spPr>
        <p:txBody>
          <a:bodyPr anchor="t" rtlCol="false" tIns="0" lIns="0" bIns="0" rIns="0">
            <a:spAutoFit/>
          </a:bodyPr>
          <a:lstStyle/>
          <a:p>
            <a:pPr algn="l">
              <a:lnSpc>
                <a:spcPts val="2800"/>
              </a:lnSpc>
            </a:pPr>
            <a:r>
              <a:rPr lang="en-US" sz="2000">
                <a:solidFill>
                  <a:srgbClr val="1F4894"/>
                </a:solidFill>
                <a:latin typeface="Mortend Bold"/>
                <a:ea typeface="Mortend Bold"/>
                <a:cs typeface="Mortend Bold"/>
                <a:sym typeface="Mortend Bold"/>
              </a:rPr>
              <a:t>team identity</a:t>
            </a:r>
          </a:p>
        </p:txBody>
      </p:sp>
      <p:sp>
        <p:nvSpPr>
          <p:cNvPr name="TextBox 6" id="6"/>
          <p:cNvSpPr txBox="true"/>
          <p:nvPr/>
        </p:nvSpPr>
        <p:spPr>
          <a:xfrm rot="0">
            <a:off x="756000" y="1254999"/>
            <a:ext cx="770731" cy="252730"/>
          </a:xfrm>
          <a:prstGeom prst="rect">
            <a:avLst/>
          </a:prstGeom>
        </p:spPr>
        <p:txBody>
          <a:bodyPr anchor="t" rtlCol="false" tIns="0" lIns="0" bIns="0" rIns="0">
            <a:spAutoFit/>
          </a:bodyPr>
          <a:lstStyle/>
          <a:p>
            <a:pPr algn="l">
              <a:lnSpc>
                <a:spcPts val="1820"/>
              </a:lnSpc>
              <a:spcBef>
                <a:spcPct val="0"/>
              </a:spcBef>
            </a:pPr>
            <a:r>
              <a:rPr lang="en-US" sz="1300">
                <a:solidFill>
                  <a:srgbClr val="0C2A52"/>
                </a:solidFill>
                <a:latin typeface="Oxanium"/>
                <a:ea typeface="Oxanium"/>
                <a:cs typeface="Oxanium"/>
                <a:sym typeface="Oxanium"/>
              </a:rPr>
              <a:t>Nama Tim</a:t>
            </a:r>
          </a:p>
        </p:txBody>
      </p:sp>
      <p:sp>
        <p:nvSpPr>
          <p:cNvPr name="TextBox 7" id="7"/>
          <p:cNvSpPr txBox="true"/>
          <p:nvPr/>
        </p:nvSpPr>
        <p:spPr>
          <a:xfrm rot="0">
            <a:off x="756000" y="1652100"/>
            <a:ext cx="1298108" cy="252730"/>
          </a:xfrm>
          <a:prstGeom prst="rect">
            <a:avLst/>
          </a:prstGeom>
        </p:spPr>
        <p:txBody>
          <a:bodyPr anchor="t" rtlCol="false" tIns="0" lIns="0" bIns="0" rIns="0">
            <a:spAutoFit/>
          </a:bodyPr>
          <a:lstStyle/>
          <a:p>
            <a:pPr algn="l">
              <a:lnSpc>
                <a:spcPts val="1820"/>
              </a:lnSpc>
              <a:spcBef>
                <a:spcPct val="0"/>
              </a:spcBef>
            </a:pPr>
            <a:r>
              <a:rPr lang="en-US" sz="1300">
                <a:solidFill>
                  <a:srgbClr val="0C2A52"/>
                </a:solidFill>
                <a:latin typeface="Oxanium"/>
                <a:ea typeface="Oxanium"/>
                <a:cs typeface="Oxanium"/>
                <a:sym typeface="Oxanium"/>
              </a:rPr>
              <a:t>Nama Ketua Tim</a:t>
            </a:r>
          </a:p>
        </p:txBody>
      </p:sp>
      <p:grpSp>
        <p:nvGrpSpPr>
          <p:cNvPr name="Group 8" id="8"/>
          <p:cNvGrpSpPr/>
          <p:nvPr/>
        </p:nvGrpSpPr>
        <p:grpSpPr>
          <a:xfrm rot="0">
            <a:off x="2150333" y="1650950"/>
            <a:ext cx="4644093" cy="312179"/>
            <a:chOff x="0" y="0"/>
            <a:chExt cx="1300264" cy="87405"/>
          </a:xfrm>
        </p:grpSpPr>
        <p:sp>
          <p:nvSpPr>
            <p:cNvPr name="Freeform 9" id="9"/>
            <p:cNvSpPr/>
            <p:nvPr/>
          </p:nvSpPr>
          <p:spPr>
            <a:xfrm flipH="false" flipV="false" rot="0">
              <a:off x="0" y="0"/>
              <a:ext cx="1300264" cy="87405"/>
            </a:xfrm>
            <a:custGeom>
              <a:avLst/>
              <a:gdLst/>
              <a:ahLst/>
              <a:cxnLst/>
              <a:rect r="r" b="b" t="t" l="l"/>
              <a:pathLst>
                <a:path h="87405" w="1300264">
                  <a:moveTo>
                    <a:pt x="0" y="0"/>
                  </a:moveTo>
                  <a:lnTo>
                    <a:pt x="1300264" y="0"/>
                  </a:lnTo>
                  <a:lnTo>
                    <a:pt x="1300264" y="87405"/>
                  </a:lnTo>
                  <a:lnTo>
                    <a:pt x="0" y="87405"/>
                  </a:lnTo>
                  <a:close/>
                </a:path>
              </a:pathLst>
            </a:custGeom>
            <a:solidFill>
              <a:srgbClr val="FFFFFF"/>
            </a:solidFill>
          </p:spPr>
        </p:sp>
        <p:sp>
          <p:nvSpPr>
            <p:cNvPr name="TextBox 10" id="10"/>
            <p:cNvSpPr txBox="true"/>
            <p:nvPr/>
          </p:nvSpPr>
          <p:spPr>
            <a:xfrm>
              <a:off x="0" y="-38100"/>
              <a:ext cx="1300264" cy="125505"/>
            </a:xfrm>
            <a:prstGeom prst="rect">
              <a:avLst/>
            </a:prstGeom>
          </p:spPr>
          <p:txBody>
            <a:bodyPr anchor="ctr" rtlCol="false" tIns="50800" lIns="50800" bIns="50800" rIns="50800"/>
            <a:lstStyle/>
            <a:p>
              <a:pPr algn="ctr">
                <a:lnSpc>
                  <a:spcPts val="1820"/>
                </a:lnSpc>
              </a:pPr>
            </a:p>
          </p:txBody>
        </p:sp>
      </p:grpSp>
      <p:grpSp>
        <p:nvGrpSpPr>
          <p:cNvPr name="Group 11" id="11"/>
          <p:cNvGrpSpPr/>
          <p:nvPr/>
        </p:nvGrpSpPr>
        <p:grpSpPr>
          <a:xfrm rot="0">
            <a:off x="2150333" y="2048854"/>
            <a:ext cx="4644093" cy="312179"/>
            <a:chOff x="0" y="0"/>
            <a:chExt cx="1300264" cy="87405"/>
          </a:xfrm>
        </p:grpSpPr>
        <p:sp>
          <p:nvSpPr>
            <p:cNvPr name="Freeform 12" id="12"/>
            <p:cNvSpPr/>
            <p:nvPr/>
          </p:nvSpPr>
          <p:spPr>
            <a:xfrm flipH="false" flipV="false" rot="0">
              <a:off x="0" y="0"/>
              <a:ext cx="1300264" cy="87405"/>
            </a:xfrm>
            <a:custGeom>
              <a:avLst/>
              <a:gdLst/>
              <a:ahLst/>
              <a:cxnLst/>
              <a:rect r="r" b="b" t="t" l="l"/>
              <a:pathLst>
                <a:path h="87405" w="1300264">
                  <a:moveTo>
                    <a:pt x="0" y="0"/>
                  </a:moveTo>
                  <a:lnTo>
                    <a:pt x="1300264" y="0"/>
                  </a:lnTo>
                  <a:lnTo>
                    <a:pt x="1300264" y="87405"/>
                  </a:lnTo>
                  <a:lnTo>
                    <a:pt x="0" y="87405"/>
                  </a:lnTo>
                  <a:close/>
                </a:path>
              </a:pathLst>
            </a:custGeom>
            <a:solidFill>
              <a:srgbClr val="FFFFFF"/>
            </a:solidFill>
          </p:spPr>
        </p:sp>
        <p:sp>
          <p:nvSpPr>
            <p:cNvPr name="TextBox 13" id="13"/>
            <p:cNvSpPr txBox="true"/>
            <p:nvPr/>
          </p:nvSpPr>
          <p:spPr>
            <a:xfrm>
              <a:off x="0" y="-38100"/>
              <a:ext cx="1300264" cy="125505"/>
            </a:xfrm>
            <a:prstGeom prst="rect">
              <a:avLst/>
            </a:prstGeom>
          </p:spPr>
          <p:txBody>
            <a:bodyPr anchor="ctr" rtlCol="false" tIns="50800" lIns="50800" bIns="50800" rIns="50800"/>
            <a:lstStyle/>
            <a:p>
              <a:pPr algn="ctr">
                <a:lnSpc>
                  <a:spcPts val="1820"/>
                </a:lnSpc>
              </a:pPr>
            </a:p>
          </p:txBody>
        </p:sp>
      </p:grpSp>
      <p:sp>
        <p:nvSpPr>
          <p:cNvPr name="TextBox 14" id="14"/>
          <p:cNvSpPr txBox="true"/>
          <p:nvPr/>
        </p:nvSpPr>
        <p:spPr>
          <a:xfrm rot="0">
            <a:off x="756000" y="2050004"/>
            <a:ext cx="824722" cy="252730"/>
          </a:xfrm>
          <a:prstGeom prst="rect">
            <a:avLst/>
          </a:prstGeom>
        </p:spPr>
        <p:txBody>
          <a:bodyPr anchor="t" rtlCol="false" tIns="0" lIns="0" bIns="0" rIns="0">
            <a:spAutoFit/>
          </a:bodyPr>
          <a:lstStyle/>
          <a:p>
            <a:pPr algn="l">
              <a:lnSpc>
                <a:spcPts val="1820"/>
              </a:lnSpc>
              <a:spcBef>
                <a:spcPct val="0"/>
              </a:spcBef>
            </a:pPr>
            <a:r>
              <a:rPr lang="en-US" sz="1300">
                <a:solidFill>
                  <a:srgbClr val="0C2A52"/>
                </a:solidFill>
                <a:latin typeface="Oxanium"/>
                <a:ea typeface="Oxanium"/>
                <a:cs typeface="Oxanium"/>
                <a:sym typeface="Oxanium"/>
              </a:rPr>
              <a:t>Kontak</a:t>
            </a:r>
          </a:p>
        </p:txBody>
      </p:sp>
      <p:grpSp>
        <p:nvGrpSpPr>
          <p:cNvPr name="Group 15" id="15"/>
          <p:cNvGrpSpPr/>
          <p:nvPr/>
        </p:nvGrpSpPr>
        <p:grpSpPr>
          <a:xfrm rot="0">
            <a:off x="2150333" y="3640470"/>
            <a:ext cx="4644093" cy="1024446"/>
            <a:chOff x="0" y="0"/>
            <a:chExt cx="1300264" cy="286827"/>
          </a:xfrm>
        </p:grpSpPr>
        <p:sp>
          <p:nvSpPr>
            <p:cNvPr name="Freeform 16" id="16"/>
            <p:cNvSpPr/>
            <p:nvPr/>
          </p:nvSpPr>
          <p:spPr>
            <a:xfrm flipH="false" flipV="false" rot="0">
              <a:off x="0" y="0"/>
              <a:ext cx="1300264" cy="286827"/>
            </a:xfrm>
            <a:custGeom>
              <a:avLst/>
              <a:gdLst/>
              <a:ahLst/>
              <a:cxnLst/>
              <a:rect r="r" b="b" t="t" l="l"/>
              <a:pathLst>
                <a:path h="286827" w="1300264">
                  <a:moveTo>
                    <a:pt x="0" y="0"/>
                  </a:moveTo>
                  <a:lnTo>
                    <a:pt x="1300264" y="0"/>
                  </a:lnTo>
                  <a:lnTo>
                    <a:pt x="1300264" y="286827"/>
                  </a:lnTo>
                  <a:lnTo>
                    <a:pt x="0" y="286827"/>
                  </a:lnTo>
                  <a:close/>
                </a:path>
              </a:pathLst>
            </a:custGeom>
            <a:solidFill>
              <a:srgbClr val="FFFFFF"/>
            </a:solidFill>
          </p:spPr>
        </p:sp>
        <p:sp>
          <p:nvSpPr>
            <p:cNvPr name="TextBox 17" id="17"/>
            <p:cNvSpPr txBox="true"/>
            <p:nvPr/>
          </p:nvSpPr>
          <p:spPr>
            <a:xfrm>
              <a:off x="0" y="-38100"/>
              <a:ext cx="1300264" cy="324927"/>
            </a:xfrm>
            <a:prstGeom prst="rect">
              <a:avLst/>
            </a:prstGeom>
          </p:spPr>
          <p:txBody>
            <a:bodyPr anchor="ctr" rtlCol="false" tIns="50800" lIns="50800" bIns="50800" rIns="50800"/>
            <a:lstStyle/>
            <a:p>
              <a:pPr algn="ctr">
                <a:lnSpc>
                  <a:spcPts val="1820"/>
                </a:lnSpc>
              </a:pPr>
            </a:p>
            <a:p>
              <a:pPr algn="ctr">
                <a:lnSpc>
                  <a:spcPts val="1820"/>
                </a:lnSpc>
              </a:pPr>
            </a:p>
            <a:p>
              <a:pPr algn="ctr">
                <a:lnSpc>
                  <a:spcPts val="1820"/>
                </a:lnSpc>
              </a:pPr>
            </a:p>
            <a:p>
              <a:pPr algn="ctr">
                <a:lnSpc>
                  <a:spcPts val="1820"/>
                </a:lnSpc>
              </a:pPr>
            </a:p>
          </p:txBody>
        </p:sp>
      </p:grpSp>
      <p:sp>
        <p:nvSpPr>
          <p:cNvPr name="TextBox 18" id="18"/>
          <p:cNvSpPr txBox="true"/>
          <p:nvPr/>
        </p:nvSpPr>
        <p:spPr>
          <a:xfrm rot="0">
            <a:off x="756000" y="3641620"/>
            <a:ext cx="1298108" cy="481330"/>
          </a:xfrm>
          <a:prstGeom prst="rect">
            <a:avLst/>
          </a:prstGeom>
        </p:spPr>
        <p:txBody>
          <a:bodyPr anchor="t" rtlCol="false" tIns="0" lIns="0" bIns="0" rIns="0">
            <a:spAutoFit/>
          </a:bodyPr>
          <a:lstStyle/>
          <a:p>
            <a:pPr algn="l">
              <a:lnSpc>
                <a:spcPts val="1820"/>
              </a:lnSpc>
              <a:spcBef>
                <a:spcPct val="0"/>
              </a:spcBef>
            </a:pPr>
            <a:r>
              <a:rPr lang="en-US" sz="1300">
                <a:solidFill>
                  <a:srgbClr val="0C2A52"/>
                </a:solidFill>
                <a:latin typeface="Oxanium"/>
                <a:ea typeface="Oxanium"/>
                <a:cs typeface="Oxanium"/>
                <a:sym typeface="Oxanium"/>
              </a:rPr>
              <a:t>Nama Anggota Tim &amp; Peran</a:t>
            </a:r>
          </a:p>
        </p:txBody>
      </p:sp>
      <p:sp>
        <p:nvSpPr>
          <p:cNvPr name="TextBox 19" id="19"/>
          <p:cNvSpPr txBox="true"/>
          <p:nvPr/>
        </p:nvSpPr>
        <p:spPr>
          <a:xfrm rot="0">
            <a:off x="756000" y="4693491"/>
            <a:ext cx="6062362" cy="6007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Ringkasan Tim</a:t>
            </a:r>
          </a:p>
          <a:p>
            <a:pPr algn="l">
              <a:lnSpc>
                <a:spcPts val="1540"/>
              </a:lnSpc>
            </a:pPr>
            <a:r>
              <a:rPr lang="en-US" sz="1100">
                <a:solidFill>
                  <a:srgbClr val="0C2A52"/>
                </a:solidFill>
                <a:latin typeface="Oxanium"/>
                <a:ea typeface="Oxanium"/>
                <a:cs typeface="Oxanium"/>
                <a:sym typeface="Oxanium"/>
              </a:rPr>
              <a:t>Siapa tim Anda dan kenapa relevan dengan solusi ini?</a:t>
            </a:r>
          </a:p>
          <a:p>
            <a:pPr algn="l">
              <a:lnSpc>
                <a:spcPts val="1260"/>
              </a:lnSpc>
              <a:spcBef>
                <a:spcPct val="0"/>
              </a:spcBef>
            </a:pPr>
            <a:r>
              <a:rPr lang="en-US" sz="900">
                <a:solidFill>
                  <a:srgbClr val="0C2A52"/>
                </a:solidFill>
                <a:latin typeface="Oxanium"/>
                <a:ea typeface="Oxanium"/>
                <a:cs typeface="Oxanium"/>
                <a:sym typeface="Oxanium"/>
              </a:rPr>
              <a:t>(maks. 600 karakter)</a:t>
            </a:r>
          </a:p>
        </p:txBody>
      </p:sp>
      <p:grpSp>
        <p:nvGrpSpPr>
          <p:cNvPr name="Group 20" id="20"/>
          <p:cNvGrpSpPr/>
          <p:nvPr/>
        </p:nvGrpSpPr>
        <p:grpSpPr>
          <a:xfrm rot="0">
            <a:off x="756000" y="5379925"/>
            <a:ext cx="6038425" cy="3163456"/>
            <a:chOff x="0" y="0"/>
            <a:chExt cx="1690653" cy="885712"/>
          </a:xfrm>
        </p:grpSpPr>
        <p:sp>
          <p:nvSpPr>
            <p:cNvPr name="Freeform 21" id="21"/>
            <p:cNvSpPr/>
            <p:nvPr/>
          </p:nvSpPr>
          <p:spPr>
            <a:xfrm flipH="false" flipV="false" rot="0">
              <a:off x="0" y="0"/>
              <a:ext cx="1690653" cy="885712"/>
            </a:xfrm>
            <a:custGeom>
              <a:avLst/>
              <a:gdLst/>
              <a:ahLst/>
              <a:cxnLst/>
              <a:rect r="r" b="b" t="t" l="l"/>
              <a:pathLst>
                <a:path h="885712" w="1690653">
                  <a:moveTo>
                    <a:pt x="0" y="0"/>
                  </a:moveTo>
                  <a:lnTo>
                    <a:pt x="1690653" y="0"/>
                  </a:lnTo>
                  <a:lnTo>
                    <a:pt x="1690653" y="885712"/>
                  </a:lnTo>
                  <a:lnTo>
                    <a:pt x="0" y="885712"/>
                  </a:lnTo>
                  <a:close/>
                </a:path>
              </a:pathLst>
            </a:custGeom>
            <a:solidFill>
              <a:srgbClr val="FFFFFF"/>
            </a:solidFill>
          </p:spPr>
        </p:sp>
        <p:sp>
          <p:nvSpPr>
            <p:cNvPr name="TextBox 22" id="22"/>
            <p:cNvSpPr txBox="true"/>
            <p:nvPr/>
          </p:nvSpPr>
          <p:spPr>
            <a:xfrm>
              <a:off x="0" y="-28575"/>
              <a:ext cx="1690653" cy="914287"/>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grpSp>
        <p:nvGrpSpPr>
          <p:cNvPr name="Group 23" id="23"/>
          <p:cNvGrpSpPr/>
          <p:nvPr/>
        </p:nvGrpSpPr>
        <p:grpSpPr>
          <a:xfrm rot="0">
            <a:off x="2150333" y="2446758"/>
            <a:ext cx="4644093" cy="312179"/>
            <a:chOff x="0" y="0"/>
            <a:chExt cx="1300264" cy="87405"/>
          </a:xfrm>
        </p:grpSpPr>
        <p:sp>
          <p:nvSpPr>
            <p:cNvPr name="Freeform 24" id="24"/>
            <p:cNvSpPr/>
            <p:nvPr/>
          </p:nvSpPr>
          <p:spPr>
            <a:xfrm flipH="false" flipV="false" rot="0">
              <a:off x="0" y="0"/>
              <a:ext cx="1300264" cy="87405"/>
            </a:xfrm>
            <a:custGeom>
              <a:avLst/>
              <a:gdLst/>
              <a:ahLst/>
              <a:cxnLst/>
              <a:rect r="r" b="b" t="t" l="l"/>
              <a:pathLst>
                <a:path h="87405" w="1300264">
                  <a:moveTo>
                    <a:pt x="0" y="0"/>
                  </a:moveTo>
                  <a:lnTo>
                    <a:pt x="1300264" y="0"/>
                  </a:lnTo>
                  <a:lnTo>
                    <a:pt x="1300264" y="87405"/>
                  </a:lnTo>
                  <a:lnTo>
                    <a:pt x="0" y="87405"/>
                  </a:lnTo>
                  <a:close/>
                </a:path>
              </a:pathLst>
            </a:custGeom>
            <a:solidFill>
              <a:srgbClr val="FFFFFF"/>
            </a:solidFill>
          </p:spPr>
        </p:sp>
        <p:sp>
          <p:nvSpPr>
            <p:cNvPr name="TextBox 25" id="25"/>
            <p:cNvSpPr txBox="true"/>
            <p:nvPr/>
          </p:nvSpPr>
          <p:spPr>
            <a:xfrm>
              <a:off x="0" y="-38100"/>
              <a:ext cx="1300264" cy="125505"/>
            </a:xfrm>
            <a:prstGeom prst="rect">
              <a:avLst/>
            </a:prstGeom>
          </p:spPr>
          <p:txBody>
            <a:bodyPr anchor="ctr" rtlCol="false" tIns="50800" lIns="50800" bIns="50800" rIns="50800"/>
            <a:lstStyle/>
            <a:p>
              <a:pPr algn="ctr">
                <a:lnSpc>
                  <a:spcPts val="1820"/>
                </a:lnSpc>
              </a:pPr>
            </a:p>
          </p:txBody>
        </p:sp>
      </p:grpSp>
      <p:sp>
        <p:nvSpPr>
          <p:cNvPr name="TextBox 26" id="26"/>
          <p:cNvSpPr txBox="true"/>
          <p:nvPr/>
        </p:nvSpPr>
        <p:spPr>
          <a:xfrm rot="0">
            <a:off x="756000" y="2447908"/>
            <a:ext cx="508397" cy="252730"/>
          </a:xfrm>
          <a:prstGeom prst="rect">
            <a:avLst/>
          </a:prstGeom>
        </p:spPr>
        <p:txBody>
          <a:bodyPr anchor="t" rtlCol="false" tIns="0" lIns="0" bIns="0" rIns="0">
            <a:spAutoFit/>
          </a:bodyPr>
          <a:lstStyle/>
          <a:p>
            <a:pPr algn="l">
              <a:lnSpc>
                <a:spcPts val="1820"/>
              </a:lnSpc>
              <a:spcBef>
                <a:spcPct val="0"/>
              </a:spcBef>
            </a:pPr>
            <a:r>
              <a:rPr lang="en-US" sz="1300">
                <a:solidFill>
                  <a:srgbClr val="0C2A52"/>
                </a:solidFill>
                <a:latin typeface="Oxanium"/>
                <a:ea typeface="Oxanium"/>
                <a:cs typeface="Oxanium"/>
                <a:sym typeface="Oxanium"/>
              </a:rPr>
              <a:t>Email</a:t>
            </a:r>
          </a:p>
        </p:txBody>
      </p:sp>
      <p:grpSp>
        <p:nvGrpSpPr>
          <p:cNvPr name="Group 27" id="27"/>
          <p:cNvGrpSpPr/>
          <p:nvPr/>
        </p:nvGrpSpPr>
        <p:grpSpPr>
          <a:xfrm rot="0">
            <a:off x="2150333" y="2844662"/>
            <a:ext cx="4644093" cy="312179"/>
            <a:chOff x="0" y="0"/>
            <a:chExt cx="1300264" cy="87405"/>
          </a:xfrm>
        </p:grpSpPr>
        <p:sp>
          <p:nvSpPr>
            <p:cNvPr name="Freeform 28" id="28"/>
            <p:cNvSpPr/>
            <p:nvPr/>
          </p:nvSpPr>
          <p:spPr>
            <a:xfrm flipH="false" flipV="false" rot="0">
              <a:off x="0" y="0"/>
              <a:ext cx="1300264" cy="87405"/>
            </a:xfrm>
            <a:custGeom>
              <a:avLst/>
              <a:gdLst/>
              <a:ahLst/>
              <a:cxnLst/>
              <a:rect r="r" b="b" t="t" l="l"/>
              <a:pathLst>
                <a:path h="87405" w="1300264">
                  <a:moveTo>
                    <a:pt x="0" y="0"/>
                  </a:moveTo>
                  <a:lnTo>
                    <a:pt x="1300264" y="0"/>
                  </a:lnTo>
                  <a:lnTo>
                    <a:pt x="1300264" y="87405"/>
                  </a:lnTo>
                  <a:lnTo>
                    <a:pt x="0" y="87405"/>
                  </a:lnTo>
                  <a:close/>
                </a:path>
              </a:pathLst>
            </a:custGeom>
            <a:solidFill>
              <a:srgbClr val="FFFFFF"/>
            </a:solidFill>
          </p:spPr>
        </p:sp>
        <p:sp>
          <p:nvSpPr>
            <p:cNvPr name="TextBox 29" id="29"/>
            <p:cNvSpPr txBox="true"/>
            <p:nvPr/>
          </p:nvSpPr>
          <p:spPr>
            <a:xfrm>
              <a:off x="0" y="-38100"/>
              <a:ext cx="1300264" cy="125505"/>
            </a:xfrm>
            <a:prstGeom prst="rect">
              <a:avLst/>
            </a:prstGeom>
          </p:spPr>
          <p:txBody>
            <a:bodyPr anchor="ctr" rtlCol="false" tIns="50800" lIns="50800" bIns="50800" rIns="50800"/>
            <a:lstStyle/>
            <a:p>
              <a:pPr algn="ctr">
                <a:lnSpc>
                  <a:spcPts val="1820"/>
                </a:lnSpc>
              </a:pPr>
            </a:p>
          </p:txBody>
        </p:sp>
      </p:grpSp>
      <p:sp>
        <p:nvSpPr>
          <p:cNvPr name="TextBox 30" id="30"/>
          <p:cNvSpPr txBox="true"/>
          <p:nvPr/>
        </p:nvSpPr>
        <p:spPr>
          <a:xfrm rot="0">
            <a:off x="756000" y="2845812"/>
            <a:ext cx="770731" cy="252730"/>
          </a:xfrm>
          <a:prstGeom prst="rect">
            <a:avLst/>
          </a:prstGeom>
        </p:spPr>
        <p:txBody>
          <a:bodyPr anchor="t" rtlCol="false" tIns="0" lIns="0" bIns="0" rIns="0">
            <a:spAutoFit/>
          </a:bodyPr>
          <a:lstStyle/>
          <a:p>
            <a:pPr algn="l">
              <a:lnSpc>
                <a:spcPts val="1820"/>
              </a:lnSpc>
              <a:spcBef>
                <a:spcPct val="0"/>
              </a:spcBef>
            </a:pPr>
            <a:r>
              <a:rPr lang="en-US" sz="1300">
                <a:solidFill>
                  <a:srgbClr val="0C2A52"/>
                </a:solidFill>
                <a:latin typeface="Oxanium"/>
                <a:ea typeface="Oxanium"/>
                <a:cs typeface="Oxanium"/>
                <a:sym typeface="Oxanium"/>
              </a:rPr>
              <a:t>Institusi</a:t>
            </a:r>
          </a:p>
        </p:txBody>
      </p:sp>
      <p:grpSp>
        <p:nvGrpSpPr>
          <p:cNvPr name="Group 31" id="31"/>
          <p:cNvGrpSpPr/>
          <p:nvPr/>
        </p:nvGrpSpPr>
        <p:grpSpPr>
          <a:xfrm rot="0">
            <a:off x="2150333" y="3242566"/>
            <a:ext cx="4644093" cy="312179"/>
            <a:chOff x="0" y="0"/>
            <a:chExt cx="1300264" cy="87405"/>
          </a:xfrm>
        </p:grpSpPr>
        <p:sp>
          <p:nvSpPr>
            <p:cNvPr name="Freeform 32" id="32"/>
            <p:cNvSpPr/>
            <p:nvPr/>
          </p:nvSpPr>
          <p:spPr>
            <a:xfrm flipH="false" flipV="false" rot="0">
              <a:off x="0" y="0"/>
              <a:ext cx="1300264" cy="87405"/>
            </a:xfrm>
            <a:custGeom>
              <a:avLst/>
              <a:gdLst/>
              <a:ahLst/>
              <a:cxnLst/>
              <a:rect r="r" b="b" t="t" l="l"/>
              <a:pathLst>
                <a:path h="87405" w="1300264">
                  <a:moveTo>
                    <a:pt x="0" y="0"/>
                  </a:moveTo>
                  <a:lnTo>
                    <a:pt x="1300264" y="0"/>
                  </a:lnTo>
                  <a:lnTo>
                    <a:pt x="1300264" y="87405"/>
                  </a:lnTo>
                  <a:lnTo>
                    <a:pt x="0" y="87405"/>
                  </a:lnTo>
                  <a:close/>
                </a:path>
              </a:pathLst>
            </a:custGeom>
            <a:solidFill>
              <a:srgbClr val="FFFFFF"/>
            </a:solidFill>
          </p:spPr>
        </p:sp>
        <p:sp>
          <p:nvSpPr>
            <p:cNvPr name="TextBox 33" id="33"/>
            <p:cNvSpPr txBox="true"/>
            <p:nvPr/>
          </p:nvSpPr>
          <p:spPr>
            <a:xfrm>
              <a:off x="0" y="-38100"/>
              <a:ext cx="1300264" cy="125505"/>
            </a:xfrm>
            <a:prstGeom prst="rect">
              <a:avLst/>
            </a:prstGeom>
          </p:spPr>
          <p:txBody>
            <a:bodyPr anchor="ctr" rtlCol="false" tIns="50800" lIns="50800" bIns="50800" rIns="50800"/>
            <a:lstStyle/>
            <a:p>
              <a:pPr algn="ctr">
                <a:lnSpc>
                  <a:spcPts val="1820"/>
                </a:lnSpc>
              </a:pPr>
            </a:p>
          </p:txBody>
        </p:sp>
      </p:grpSp>
      <p:sp>
        <p:nvSpPr>
          <p:cNvPr name="TextBox 34" id="34"/>
          <p:cNvSpPr txBox="true"/>
          <p:nvPr/>
        </p:nvSpPr>
        <p:spPr>
          <a:xfrm rot="0">
            <a:off x="756000" y="3243716"/>
            <a:ext cx="1212205" cy="252730"/>
          </a:xfrm>
          <a:prstGeom prst="rect">
            <a:avLst/>
          </a:prstGeom>
        </p:spPr>
        <p:txBody>
          <a:bodyPr anchor="t" rtlCol="false" tIns="0" lIns="0" bIns="0" rIns="0">
            <a:spAutoFit/>
          </a:bodyPr>
          <a:lstStyle/>
          <a:p>
            <a:pPr algn="l">
              <a:lnSpc>
                <a:spcPts val="1820"/>
              </a:lnSpc>
              <a:spcBef>
                <a:spcPct val="0"/>
              </a:spcBef>
            </a:pPr>
            <a:r>
              <a:rPr lang="en-US" sz="1300">
                <a:solidFill>
                  <a:srgbClr val="0C2A52"/>
                </a:solidFill>
                <a:latin typeface="Oxanium"/>
                <a:ea typeface="Oxanium"/>
                <a:cs typeface="Oxanium"/>
                <a:sym typeface="Oxanium"/>
              </a:rPr>
              <a:t>Link Portofolio</a:t>
            </a:r>
          </a:p>
        </p:txBody>
      </p:sp>
      <p:sp>
        <p:nvSpPr>
          <p:cNvPr name="TextBox 35" id="35"/>
          <p:cNvSpPr txBox="true"/>
          <p:nvPr/>
        </p:nvSpPr>
        <p:spPr>
          <a:xfrm rot="0">
            <a:off x="794298" y="10159188"/>
            <a:ext cx="6000127"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1</a:t>
            </a:r>
          </a:p>
        </p:txBody>
      </p:sp>
    </p:spTree>
  </p:cSld>
  <p:clrMapOvr>
    <a:masterClrMapping/>
  </p:clrMapOvr>
</p:sld>
</file>

<file path=ppt/slides/slide5.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756000" y="679800"/>
            <a:ext cx="6048000" cy="377825"/>
          </a:xfrm>
          <a:prstGeom prst="rect">
            <a:avLst/>
          </a:prstGeom>
        </p:spPr>
        <p:txBody>
          <a:bodyPr anchor="t" rtlCol="false" tIns="0" lIns="0" bIns="0" rIns="0">
            <a:spAutoFit/>
          </a:bodyPr>
          <a:lstStyle/>
          <a:p>
            <a:pPr algn="l">
              <a:lnSpc>
                <a:spcPts val="2800"/>
              </a:lnSpc>
            </a:pPr>
            <a:r>
              <a:rPr lang="en-US" sz="2000">
                <a:solidFill>
                  <a:srgbClr val="1F4894"/>
                </a:solidFill>
                <a:latin typeface="Mortend Bold"/>
                <a:ea typeface="Mortend Bold"/>
                <a:cs typeface="Mortend Bold"/>
                <a:sym typeface="Mortend Bold"/>
              </a:rPr>
              <a:t>team identity</a:t>
            </a:r>
          </a:p>
        </p:txBody>
      </p:sp>
      <p:sp>
        <p:nvSpPr>
          <p:cNvPr name="TextBox 3" id="3"/>
          <p:cNvSpPr txBox="true"/>
          <p:nvPr/>
        </p:nvSpPr>
        <p:spPr>
          <a:xfrm rot="0">
            <a:off x="732064" y="1196700"/>
            <a:ext cx="6062362" cy="15532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Executive Summary Project</a:t>
            </a:r>
          </a:p>
          <a:p>
            <a:pPr algn="just">
              <a:lnSpc>
                <a:spcPts val="1820"/>
              </a:lnSpc>
            </a:pPr>
            <a:r>
              <a:rPr lang="en-US" sz="1300">
                <a:solidFill>
                  <a:srgbClr val="0C2A52"/>
                </a:solidFill>
                <a:latin typeface="Oxanium"/>
                <a:ea typeface="Oxanium"/>
                <a:cs typeface="Oxanium"/>
                <a:sym typeface="Oxanium"/>
              </a:rPr>
              <a:t>Jelaskan r</a:t>
            </a:r>
            <a:r>
              <a:rPr lang="en-US" sz="1300">
                <a:solidFill>
                  <a:srgbClr val="0C2A52"/>
                </a:solidFill>
                <a:latin typeface="Oxanium"/>
                <a:ea typeface="Oxanium"/>
                <a:cs typeface="Oxanium"/>
                <a:sym typeface="Oxanium"/>
              </a:rPr>
              <a:t>ingkasan eksekutif proyek Anda, bagaimana proyek ini mendukung tema Hackathon, dan bagaimana proyek ini dapat memberikan dampak positif bagi ekonomi digital dan lanskap keuangan Indonesia. Pastikan untuk menyertakan problem statement yang Anda coba jawab dengan solusi inovatif Anda.</a:t>
            </a:r>
          </a:p>
          <a:p>
            <a:pPr algn="l">
              <a:lnSpc>
                <a:spcPts val="1260"/>
              </a:lnSpc>
              <a:spcBef>
                <a:spcPct val="0"/>
              </a:spcBef>
            </a:pPr>
            <a:r>
              <a:rPr lang="en-US" sz="900">
                <a:solidFill>
                  <a:srgbClr val="0C2A52"/>
                </a:solidFill>
                <a:latin typeface="Oxanium"/>
                <a:ea typeface="Oxanium"/>
                <a:cs typeface="Oxanium"/>
                <a:sym typeface="Oxanium"/>
              </a:rPr>
              <a:t>(maks. 600 karakter)</a:t>
            </a:r>
          </a:p>
        </p:txBody>
      </p:sp>
      <p:grpSp>
        <p:nvGrpSpPr>
          <p:cNvPr name="Group 4" id="4"/>
          <p:cNvGrpSpPr/>
          <p:nvPr/>
        </p:nvGrpSpPr>
        <p:grpSpPr>
          <a:xfrm rot="0">
            <a:off x="732064" y="2821909"/>
            <a:ext cx="6071936" cy="3163456"/>
            <a:chOff x="0" y="0"/>
            <a:chExt cx="1700035" cy="885712"/>
          </a:xfrm>
        </p:grpSpPr>
        <p:sp>
          <p:nvSpPr>
            <p:cNvPr name="Freeform 5" id="5"/>
            <p:cNvSpPr/>
            <p:nvPr/>
          </p:nvSpPr>
          <p:spPr>
            <a:xfrm flipH="false" flipV="false" rot="0">
              <a:off x="0" y="0"/>
              <a:ext cx="1700035" cy="885712"/>
            </a:xfrm>
            <a:custGeom>
              <a:avLst/>
              <a:gdLst/>
              <a:ahLst/>
              <a:cxnLst/>
              <a:rect r="r" b="b" t="t" l="l"/>
              <a:pathLst>
                <a:path h="885712" w="1700035">
                  <a:moveTo>
                    <a:pt x="0" y="0"/>
                  </a:moveTo>
                  <a:lnTo>
                    <a:pt x="1700035" y="0"/>
                  </a:lnTo>
                  <a:lnTo>
                    <a:pt x="1700035" y="885712"/>
                  </a:lnTo>
                  <a:lnTo>
                    <a:pt x="0" y="885712"/>
                  </a:lnTo>
                  <a:close/>
                </a:path>
              </a:pathLst>
            </a:custGeom>
            <a:solidFill>
              <a:srgbClr val="FFFFFF"/>
            </a:solidFill>
          </p:spPr>
        </p:sp>
        <p:sp>
          <p:nvSpPr>
            <p:cNvPr name="TextBox 6" id="6"/>
            <p:cNvSpPr txBox="true"/>
            <p:nvPr/>
          </p:nvSpPr>
          <p:spPr>
            <a:xfrm>
              <a:off x="0" y="-28575"/>
              <a:ext cx="1700035" cy="914287"/>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
        <p:nvSpPr>
          <p:cNvPr name="TextBox 7" id="7"/>
          <p:cNvSpPr txBox="true"/>
          <p:nvPr/>
        </p:nvSpPr>
        <p:spPr>
          <a:xfrm rot="0">
            <a:off x="794298" y="10159188"/>
            <a:ext cx="6000127"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2</a:t>
            </a:r>
          </a:p>
        </p:txBody>
      </p:sp>
    </p:spTree>
  </p:cSld>
  <p:clrMapOvr>
    <a:masterClrMapping/>
  </p:clrMapOvr>
</p:sld>
</file>

<file path=ppt/slides/slide6.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756000" y="1932044"/>
            <a:ext cx="6048000" cy="607949"/>
            <a:chOff x="0" y="0"/>
            <a:chExt cx="1693333" cy="170215"/>
          </a:xfrm>
        </p:grpSpPr>
        <p:sp>
          <p:nvSpPr>
            <p:cNvPr name="Freeform 3" id="3"/>
            <p:cNvSpPr/>
            <p:nvPr/>
          </p:nvSpPr>
          <p:spPr>
            <a:xfrm flipH="false" flipV="false" rot="0">
              <a:off x="0" y="0"/>
              <a:ext cx="1693333" cy="170215"/>
            </a:xfrm>
            <a:custGeom>
              <a:avLst/>
              <a:gdLst/>
              <a:ahLst/>
              <a:cxnLst/>
              <a:rect r="r" b="b" t="t" l="l"/>
              <a:pathLst>
                <a:path h="170215" w="1693333">
                  <a:moveTo>
                    <a:pt x="0" y="0"/>
                  </a:moveTo>
                  <a:lnTo>
                    <a:pt x="1693333" y="0"/>
                  </a:lnTo>
                  <a:lnTo>
                    <a:pt x="1693333" y="170215"/>
                  </a:lnTo>
                  <a:lnTo>
                    <a:pt x="0" y="170215"/>
                  </a:lnTo>
                  <a:close/>
                </a:path>
              </a:pathLst>
            </a:custGeom>
            <a:solidFill>
              <a:srgbClr val="FFFFFF"/>
            </a:solidFill>
          </p:spPr>
        </p:sp>
        <p:sp>
          <p:nvSpPr>
            <p:cNvPr name="TextBox 4" id="4"/>
            <p:cNvSpPr txBox="true"/>
            <p:nvPr/>
          </p:nvSpPr>
          <p:spPr>
            <a:xfrm>
              <a:off x="0" y="-28575"/>
              <a:ext cx="1693333" cy="198790"/>
            </a:xfrm>
            <a:prstGeom prst="rect">
              <a:avLst/>
            </a:prstGeom>
          </p:spPr>
          <p:txBody>
            <a:bodyPr anchor="ctr" rtlCol="false" tIns="50800" lIns="50800" bIns="50800" rIns="50800"/>
            <a:lstStyle/>
            <a:p>
              <a:pPr algn="ctr">
                <a:lnSpc>
                  <a:spcPts val="1960"/>
                </a:lnSpc>
              </a:pPr>
            </a:p>
            <a:p>
              <a:pPr algn="ctr">
                <a:lnSpc>
                  <a:spcPts val="1960"/>
                </a:lnSpc>
              </a:pPr>
            </a:p>
          </p:txBody>
        </p:sp>
      </p:grpSp>
      <p:grpSp>
        <p:nvGrpSpPr>
          <p:cNvPr name="Group 5" id="5"/>
          <p:cNvGrpSpPr/>
          <p:nvPr/>
        </p:nvGrpSpPr>
        <p:grpSpPr>
          <a:xfrm rot="0">
            <a:off x="756000" y="3153453"/>
            <a:ext cx="6048000" cy="855599"/>
            <a:chOff x="0" y="0"/>
            <a:chExt cx="1693333" cy="239553"/>
          </a:xfrm>
        </p:grpSpPr>
        <p:sp>
          <p:nvSpPr>
            <p:cNvPr name="Freeform 6" id="6"/>
            <p:cNvSpPr/>
            <p:nvPr/>
          </p:nvSpPr>
          <p:spPr>
            <a:xfrm flipH="false" flipV="false" rot="0">
              <a:off x="0" y="0"/>
              <a:ext cx="1693333" cy="239553"/>
            </a:xfrm>
            <a:custGeom>
              <a:avLst/>
              <a:gdLst/>
              <a:ahLst/>
              <a:cxnLst/>
              <a:rect r="r" b="b" t="t" l="l"/>
              <a:pathLst>
                <a:path h="239553" w="1693333">
                  <a:moveTo>
                    <a:pt x="0" y="0"/>
                  </a:moveTo>
                  <a:lnTo>
                    <a:pt x="1693333" y="0"/>
                  </a:lnTo>
                  <a:lnTo>
                    <a:pt x="1693333" y="239553"/>
                  </a:lnTo>
                  <a:lnTo>
                    <a:pt x="0" y="239553"/>
                  </a:lnTo>
                  <a:close/>
                </a:path>
              </a:pathLst>
            </a:custGeom>
            <a:solidFill>
              <a:srgbClr val="FFFFFF"/>
            </a:solidFill>
          </p:spPr>
        </p:sp>
        <p:sp>
          <p:nvSpPr>
            <p:cNvPr name="TextBox 7" id="7"/>
            <p:cNvSpPr txBox="true"/>
            <p:nvPr/>
          </p:nvSpPr>
          <p:spPr>
            <a:xfrm>
              <a:off x="0" y="-28575"/>
              <a:ext cx="1693333" cy="268128"/>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p:txBody>
        </p:sp>
      </p:grpSp>
      <p:grpSp>
        <p:nvGrpSpPr>
          <p:cNvPr name="Group 8" id="8"/>
          <p:cNvGrpSpPr/>
          <p:nvPr/>
        </p:nvGrpSpPr>
        <p:grpSpPr>
          <a:xfrm rot="0">
            <a:off x="756000" y="4809786"/>
            <a:ext cx="6048000" cy="4075049"/>
            <a:chOff x="0" y="0"/>
            <a:chExt cx="1693333" cy="1140942"/>
          </a:xfrm>
        </p:grpSpPr>
        <p:sp>
          <p:nvSpPr>
            <p:cNvPr name="Freeform 9" id="9"/>
            <p:cNvSpPr/>
            <p:nvPr/>
          </p:nvSpPr>
          <p:spPr>
            <a:xfrm flipH="false" flipV="false" rot="0">
              <a:off x="0" y="0"/>
              <a:ext cx="1693333" cy="1140942"/>
            </a:xfrm>
            <a:custGeom>
              <a:avLst/>
              <a:gdLst/>
              <a:ahLst/>
              <a:cxnLst/>
              <a:rect r="r" b="b" t="t" l="l"/>
              <a:pathLst>
                <a:path h="1140942" w="1693333">
                  <a:moveTo>
                    <a:pt x="0" y="0"/>
                  </a:moveTo>
                  <a:lnTo>
                    <a:pt x="1693333" y="0"/>
                  </a:lnTo>
                  <a:lnTo>
                    <a:pt x="1693333" y="1140942"/>
                  </a:lnTo>
                  <a:lnTo>
                    <a:pt x="0" y="1140942"/>
                  </a:lnTo>
                  <a:close/>
                </a:path>
              </a:pathLst>
            </a:custGeom>
            <a:solidFill>
              <a:srgbClr val="FFFFFF"/>
            </a:solidFill>
          </p:spPr>
        </p:sp>
        <p:sp>
          <p:nvSpPr>
            <p:cNvPr name="TextBox 10" id="10"/>
            <p:cNvSpPr txBox="true"/>
            <p:nvPr/>
          </p:nvSpPr>
          <p:spPr>
            <a:xfrm>
              <a:off x="0" y="-28575"/>
              <a:ext cx="1693333" cy="1169517"/>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
        <p:nvSpPr>
          <p:cNvPr name="TextBox 11" id="11"/>
          <p:cNvSpPr txBox="true"/>
          <p:nvPr/>
        </p:nvSpPr>
        <p:spPr>
          <a:xfrm rot="0">
            <a:off x="756000" y="679800"/>
            <a:ext cx="6048000" cy="377825"/>
          </a:xfrm>
          <a:prstGeom prst="rect">
            <a:avLst/>
          </a:prstGeom>
        </p:spPr>
        <p:txBody>
          <a:bodyPr anchor="t" rtlCol="false" tIns="0" lIns="0" bIns="0" rIns="0">
            <a:spAutoFit/>
          </a:bodyPr>
          <a:lstStyle/>
          <a:p>
            <a:pPr algn="l">
              <a:lnSpc>
                <a:spcPts val="2800"/>
              </a:lnSpc>
            </a:pPr>
            <a:r>
              <a:rPr lang="en-US" sz="2000">
                <a:solidFill>
                  <a:srgbClr val="1F4894"/>
                </a:solidFill>
                <a:latin typeface="Mortend Bold"/>
                <a:ea typeface="Mortend Bold"/>
                <a:cs typeface="Mortend Bold"/>
                <a:sym typeface="Mortend Bold"/>
              </a:rPr>
              <a:t>Problem statement</a:t>
            </a:r>
          </a:p>
        </p:txBody>
      </p:sp>
      <p:sp>
        <p:nvSpPr>
          <p:cNvPr name="TextBox 12" id="12"/>
          <p:cNvSpPr txBox="true"/>
          <p:nvPr/>
        </p:nvSpPr>
        <p:spPr>
          <a:xfrm rot="0">
            <a:off x="756000" y="1607314"/>
            <a:ext cx="2411214" cy="252730"/>
          </a:xfrm>
          <a:prstGeom prst="rect">
            <a:avLst/>
          </a:prstGeom>
        </p:spPr>
        <p:txBody>
          <a:bodyPr anchor="t" rtlCol="false" tIns="0" lIns="0" bIns="0" rIns="0">
            <a:spAutoFit/>
          </a:bodyPr>
          <a:lstStyle/>
          <a:p>
            <a:pPr algn="l">
              <a:lnSpc>
                <a:spcPts val="1820"/>
              </a:lnSpc>
              <a:spcBef>
                <a:spcPct val="0"/>
              </a:spcBef>
            </a:pPr>
            <a:r>
              <a:rPr lang="en-US" sz="1300">
                <a:solidFill>
                  <a:srgbClr val="0C2A52"/>
                </a:solidFill>
                <a:latin typeface="Oxanium"/>
                <a:ea typeface="Oxanium"/>
                <a:cs typeface="Oxanium"/>
                <a:sym typeface="Oxanium"/>
              </a:rPr>
              <a:t>Problem Statement yang Dipilih</a:t>
            </a:r>
          </a:p>
        </p:txBody>
      </p:sp>
      <p:sp>
        <p:nvSpPr>
          <p:cNvPr name="TextBox 13" id="13"/>
          <p:cNvSpPr txBox="true"/>
          <p:nvPr/>
        </p:nvSpPr>
        <p:spPr>
          <a:xfrm rot="0">
            <a:off x="756000" y="2667043"/>
            <a:ext cx="2354659" cy="4102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Sub-Problem Statement Acuan</a:t>
            </a:r>
          </a:p>
          <a:p>
            <a:pPr algn="l">
              <a:lnSpc>
                <a:spcPts val="1260"/>
              </a:lnSpc>
              <a:spcBef>
                <a:spcPct val="0"/>
              </a:spcBef>
            </a:pPr>
            <a:r>
              <a:rPr lang="en-US" sz="900">
                <a:solidFill>
                  <a:srgbClr val="0C2A52"/>
                </a:solidFill>
                <a:latin typeface="Oxanium"/>
                <a:ea typeface="Oxanium"/>
                <a:cs typeface="Oxanium"/>
                <a:sym typeface="Oxanium"/>
              </a:rPr>
              <a:t>(boleh lebih dari satu)</a:t>
            </a:r>
          </a:p>
        </p:txBody>
      </p:sp>
      <p:sp>
        <p:nvSpPr>
          <p:cNvPr name="TextBox 14" id="14"/>
          <p:cNvSpPr txBox="true"/>
          <p:nvPr/>
        </p:nvSpPr>
        <p:spPr>
          <a:xfrm rot="0">
            <a:off x="756000" y="4132877"/>
            <a:ext cx="4853781" cy="6007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Tujuan Utama</a:t>
            </a:r>
          </a:p>
          <a:p>
            <a:pPr algn="l">
              <a:lnSpc>
                <a:spcPts val="1540"/>
              </a:lnSpc>
            </a:pPr>
            <a:r>
              <a:rPr lang="en-US" sz="1100">
                <a:solidFill>
                  <a:srgbClr val="0C2A52"/>
                </a:solidFill>
                <a:latin typeface="Oxanium"/>
                <a:ea typeface="Oxanium"/>
                <a:cs typeface="Oxanium"/>
                <a:sym typeface="Oxanium"/>
              </a:rPr>
              <a:t>Jelaskan tujuan utama dan target spesifik yang ingin dicapai dari inovasi ini.</a:t>
            </a:r>
          </a:p>
          <a:p>
            <a:pPr algn="l">
              <a:lnSpc>
                <a:spcPts val="1260"/>
              </a:lnSpc>
              <a:spcBef>
                <a:spcPct val="0"/>
              </a:spcBef>
            </a:pPr>
            <a:r>
              <a:rPr lang="en-US" sz="900">
                <a:solidFill>
                  <a:srgbClr val="0C2A52"/>
                </a:solidFill>
                <a:latin typeface="Oxanium"/>
                <a:ea typeface="Oxanium"/>
                <a:cs typeface="Oxanium"/>
                <a:sym typeface="Oxanium"/>
              </a:rPr>
              <a:t>(maks. 800 karakter)</a:t>
            </a:r>
          </a:p>
        </p:txBody>
      </p:sp>
      <p:sp>
        <p:nvSpPr>
          <p:cNvPr name="TextBox 15" id="15"/>
          <p:cNvSpPr txBox="true"/>
          <p:nvPr/>
        </p:nvSpPr>
        <p:spPr>
          <a:xfrm rot="0">
            <a:off x="794298" y="10159188"/>
            <a:ext cx="6000127"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3</a:t>
            </a:r>
          </a:p>
        </p:txBody>
      </p:sp>
      <p:sp>
        <p:nvSpPr>
          <p:cNvPr name="TextBox 16" id="16"/>
          <p:cNvSpPr txBox="true"/>
          <p:nvPr/>
        </p:nvSpPr>
        <p:spPr>
          <a:xfrm rot="0">
            <a:off x="756000" y="1264524"/>
            <a:ext cx="4605635" cy="210185"/>
          </a:xfrm>
          <a:prstGeom prst="rect">
            <a:avLst/>
          </a:prstGeom>
        </p:spPr>
        <p:txBody>
          <a:bodyPr anchor="t" rtlCol="false" tIns="0" lIns="0" bIns="0" rIns="0">
            <a:spAutoFit/>
          </a:bodyPr>
          <a:lstStyle/>
          <a:p>
            <a:pPr algn="l">
              <a:lnSpc>
                <a:spcPts val="1540"/>
              </a:lnSpc>
              <a:spcBef>
                <a:spcPct val="0"/>
              </a:spcBef>
            </a:pPr>
            <a:r>
              <a:rPr lang="en-US" sz="1100">
                <a:solidFill>
                  <a:srgbClr val="0C2A52"/>
                </a:solidFill>
                <a:latin typeface="Oxanium"/>
                <a:ea typeface="Oxanium"/>
                <a:cs typeface="Oxanium"/>
                <a:sym typeface="Oxanium"/>
              </a:rPr>
              <a:t>Silakan cek halaman 0 untuk penulisan Problem Statement yang sesuai.</a:t>
            </a:r>
          </a:p>
        </p:txBody>
      </p:sp>
    </p:spTree>
  </p:cSld>
  <p:clrMapOvr>
    <a:masterClrMapping/>
  </p:clrMapOvr>
</p:sld>
</file>

<file path=ppt/slides/slide7.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756000" y="1927709"/>
            <a:ext cx="6048000" cy="4817999"/>
            <a:chOff x="0" y="0"/>
            <a:chExt cx="1693333" cy="1348955"/>
          </a:xfrm>
        </p:grpSpPr>
        <p:sp>
          <p:nvSpPr>
            <p:cNvPr name="Freeform 3" id="3"/>
            <p:cNvSpPr/>
            <p:nvPr/>
          </p:nvSpPr>
          <p:spPr>
            <a:xfrm flipH="false" flipV="false" rot="0">
              <a:off x="0" y="0"/>
              <a:ext cx="1693333" cy="1348955"/>
            </a:xfrm>
            <a:custGeom>
              <a:avLst/>
              <a:gdLst/>
              <a:ahLst/>
              <a:cxnLst/>
              <a:rect r="r" b="b" t="t" l="l"/>
              <a:pathLst>
                <a:path h="1348955" w="1693333">
                  <a:moveTo>
                    <a:pt x="0" y="0"/>
                  </a:moveTo>
                  <a:lnTo>
                    <a:pt x="1693333" y="0"/>
                  </a:lnTo>
                  <a:lnTo>
                    <a:pt x="1693333" y="1348955"/>
                  </a:lnTo>
                  <a:lnTo>
                    <a:pt x="0" y="1348955"/>
                  </a:lnTo>
                  <a:close/>
                </a:path>
              </a:pathLst>
            </a:custGeom>
            <a:solidFill>
              <a:srgbClr val="FFFFFF"/>
            </a:solidFill>
          </p:spPr>
        </p:sp>
        <p:sp>
          <p:nvSpPr>
            <p:cNvPr name="TextBox 4" id="4"/>
            <p:cNvSpPr txBox="true"/>
            <p:nvPr/>
          </p:nvSpPr>
          <p:spPr>
            <a:xfrm>
              <a:off x="0" y="-28575"/>
              <a:ext cx="1693333" cy="1377530"/>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
        <p:nvSpPr>
          <p:cNvPr name="TextBox 5" id="5"/>
          <p:cNvSpPr txBox="true"/>
          <p:nvPr/>
        </p:nvSpPr>
        <p:spPr>
          <a:xfrm rot="0">
            <a:off x="756000" y="679800"/>
            <a:ext cx="6048000" cy="377825"/>
          </a:xfrm>
          <a:prstGeom prst="rect">
            <a:avLst/>
          </a:prstGeom>
        </p:spPr>
        <p:txBody>
          <a:bodyPr anchor="t" rtlCol="false" tIns="0" lIns="0" bIns="0" rIns="0">
            <a:spAutoFit/>
          </a:bodyPr>
          <a:lstStyle/>
          <a:p>
            <a:pPr algn="l">
              <a:lnSpc>
                <a:spcPts val="2800"/>
              </a:lnSpc>
            </a:pPr>
            <a:r>
              <a:rPr lang="en-US" sz="2000">
                <a:solidFill>
                  <a:srgbClr val="1F4894"/>
                </a:solidFill>
                <a:latin typeface="Mortend Bold"/>
                <a:ea typeface="Mortend Bold"/>
                <a:cs typeface="Mortend Bold"/>
                <a:sym typeface="Mortend Bold"/>
              </a:rPr>
              <a:t>Problem definition</a:t>
            </a:r>
          </a:p>
        </p:txBody>
      </p:sp>
      <p:sp>
        <p:nvSpPr>
          <p:cNvPr name="TextBox 6" id="6"/>
          <p:cNvSpPr txBox="true"/>
          <p:nvPr/>
        </p:nvSpPr>
        <p:spPr>
          <a:xfrm rot="0">
            <a:off x="756000" y="1254999"/>
            <a:ext cx="2408436" cy="6007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Apa Masalah Utamanya?</a:t>
            </a:r>
          </a:p>
          <a:p>
            <a:pPr algn="l">
              <a:lnSpc>
                <a:spcPts val="1540"/>
              </a:lnSpc>
            </a:pPr>
            <a:r>
              <a:rPr lang="en-US" sz="1100">
                <a:solidFill>
                  <a:srgbClr val="0C2A52"/>
                </a:solidFill>
                <a:latin typeface="Oxanium"/>
                <a:ea typeface="Oxanium"/>
                <a:cs typeface="Oxanium"/>
                <a:sym typeface="Oxanium"/>
              </a:rPr>
              <a:t>Masalah harus spesifik, bukan umum.</a:t>
            </a:r>
          </a:p>
          <a:p>
            <a:pPr algn="l">
              <a:lnSpc>
                <a:spcPts val="1260"/>
              </a:lnSpc>
              <a:spcBef>
                <a:spcPct val="0"/>
              </a:spcBef>
            </a:pPr>
            <a:r>
              <a:rPr lang="en-US" sz="900">
                <a:solidFill>
                  <a:srgbClr val="0C2A52"/>
                </a:solidFill>
                <a:latin typeface="Oxanium"/>
                <a:ea typeface="Oxanium"/>
                <a:cs typeface="Oxanium"/>
                <a:sym typeface="Oxanium"/>
              </a:rPr>
              <a:t>(maks. 1000 karakter)</a:t>
            </a:r>
          </a:p>
        </p:txBody>
      </p:sp>
      <p:sp>
        <p:nvSpPr>
          <p:cNvPr name="TextBox 7" id="7"/>
          <p:cNvSpPr txBox="true"/>
          <p:nvPr/>
        </p:nvSpPr>
        <p:spPr>
          <a:xfrm rot="0">
            <a:off x="794298" y="10159188"/>
            <a:ext cx="6000127"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4</a:t>
            </a:r>
          </a:p>
        </p:txBody>
      </p:sp>
      <p:grpSp>
        <p:nvGrpSpPr>
          <p:cNvPr name="Group 8" id="8"/>
          <p:cNvGrpSpPr/>
          <p:nvPr/>
        </p:nvGrpSpPr>
        <p:grpSpPr>
          <a:xfrm rot="0">
            <a:off x="746425" y="7546443"/>
            <a:ext cx="6048000" cy="2341499"/>
            <a:chOff x="0" y="0"/>
            <a:chExt cx="1693333" cy="655578"/>
          </a:xfrm>
        </p:grpSpPr>
        <p:sp>
          <p:nvSpPr>
            <p:cNvPr name="Freeform 9" id="9"/>
            <p:cNvSpPr/>
            <p:nvPr/>
          </p:nvSpPr>
          <p:spPr>
            <a:xfrm flipH="false" flipV="false" rot="0">
              <a:off x="0" y="0"/>
              <a:ext cx="1693333" cy="655578"/>
            </a:xfrm>
            <a:custGeom>
              <a:avLst/>
              <a:gdLst/>
              <a:ahLst/>
              <a:cxnLst/>
              <a:rect r="r" b="b" t="t" l="l"/>
              <a:pathLst>
                <a:path h="655578" w="1693333">
                  <a:moveTo>
                    <a:pt x="0" y="0"/>
                  </a:moveTo>
                  <a:lnTo>
                    <a:pt x="1693333" y="0"/>
                  </a:lnTo>
                  <a:lnTo>
                    <a:pt x="1693333" y="655578"/>
                  </a:lnTo>
                  <a:lnTo>
                    <a:pt x="0" y="655578"/>
                  </a:lnTo>
                  <a:close/>
                </a:path>
              </a:pathLst>
            </a:custGeom>
            <a:solidFill>
              <a:srgbClr val="FFFFFF"/>
            </a:solidFill>
          </p:spPr>
        </p:sp>
        <p:sp>
          <p:nvSpPr>
            <p:cNvPr name="TextBox 10" id="10"/>
            <p:cNvSpPr txBox="true"/>
            <p:nvPr/>
          </p:nvSpPr>
          <p:spPr>
            <a:xfrm>
              <a:off x="0" y="-28575"/>
              <a:ext cx="1693333" cy="684153"/>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
        <p:nvSpPr>
          <p:cNvPr name="TextBox 11" id="11"/>
          <p:cNvSpPr txBox="true"/>
          <p:nvPr/>
        </p:nvSpPr>
        <p:spPr>
          <a:xfrm rot="0">
            <a:off x="746425" y="6873733"/>
            <a:ext cx="6057575" cy="6007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Siapa yang Terdampak dan Seberapa Besar?</a:t>
            </a:r>
          </a:p>
          <a:p>
            <a:pPr algn="l">
              <a:lnSpc>
                <a:spcPts val="1540"/>
              </a:lnSpc>
            </a:pPr>
            <a:r>
              <a:rPr lang="en-US" sz="1100">
                <a:solidFill>
                  <a:srgbClr val="0C2A52"/>
                </a:solidFill>
                <a:latin typeface="Oxanium"/>
                <a:ea typeface="Oxanium"/>
                <a:cs typeface="Oxanium"/>
                <a:sym typeface="Oxanium"/>
              </a:rPr>
              <a:t>Siapa pengguna / institusi / industri yang terdampak?</a:t>
            </a:r>
          </a:p>
          <a:p>
            <a:pPr algn="l">
              <a:lnSpc>
                <a:spcPts val="1260"/>
              </a:lnSpc>
              <a:spcBef>
                <a:spcPct val="0"/>
              </a:spcBef>
            </a:pPr>
            <a:r>
              <a:rPr lang="en-US" sz="900">
                <a:solidFill>
                  <a:srgbClr val="0C2A52"/>
                </a:solidFill>
                <a:latin typeface="Oxanium"/>
                <a:ea typeface="Oxanium"/>
                <a:cs typeface="Oxanium"/>
                <a:sym typeface="Oxanium"/>
              </a:rPr>
              <a:t>(maks. 700 karakter)</a:t>
            </a:r>
          </a:p>
        </p:txBody>
      </p:sp>
    </p:spTree>
  </p:cSld>
  <p:clrMapOvr>
    <a:masterClrMapping/>
  </p:clrMapOvr>
</p:sld>
</file>

<file path=ppt/slides/slide8.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770362" y="3458608"/>
            <a:ext cx="6033638" cy="4322699"/>
            <a:chOff x="0" y="0"/>
            <a:chExt cx="1689312" cy="1210280"/>
          </a:xfrm>
        </p:grpSpPr>
        <p:sp>
          <p:nvSpPr>
            <p:cNvPr name="Freeform 3" id="3"/>
            <p:cNvSpPr/>
            <p:nvPr/>
          </p:nvSpPr>
          <p:spPr>
            <a:xfrm flipH="false" flipV="false" rot="0">
              <a:off x="0" y="0"/>
              <a:ext cx="1689312" cy="1210280"/>
            </a:xfrm>
            <a:custGeom>
              <a:avLst/>
              <a:gdLst/>
              <a:ahLst/>
              <a:cxnLst/>
              <a:rect r="r" b="b" t="t" l="l"/>
              <a:pathLst>
                <a:path h="1210280" w="1689312">
                  <a:moveTo>
                    <a:pt x="0" y="0"/>
                  </a:moveTo>
                  <a:lnTo>
                    <a:pt x="1689312" y="0"/>
                  </a:lnTo>
                  <a:lnTo>
                    <a:pt x="1689312" y="1210280"/>
                  </a:lnTo>
                  <a:lnTo>
                    <a:pt x="0" y="1210280"/>
                  </a:lnTo>
                  <a:close/>
                </a:path>
              </a:pathLst>
            </a:custGeom>
            <a:solidFill>
              <a:srgbClr val="FFFFFF"/>
            </a:solidFill>
          </p:spPr>
        </p:sp>
        <p:sp>
          <p:nvSpPr>
            <p:cNvPr name="TextBox 4" id="4"/>
            <p:cNvSpPr txBox="true"/>
            <p:nvPr/>
          </p:nvSpPr>
          <p:spPr>
            <a:xfrm>
              <a:off x="0" y="-28575"/>
              <a:ext cx="1689312" cy="1238855"/>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
        <p:nvSpPr>
          <p:cNvPr name="TextBox 5" id="5"/>
          <p:cNvSpPr txBox="true"/>
          <p:nvPr/>
        </p:nvSpPr>
        <p:spPr>
          <a:xfrm rot="0">
            <a:off x="756000" y="679800"/>
            <a:ext cx="6048000" cy="377825"/>
          </a:xfrm>
          <a:prstGeom prst="rect">
            <a:avLst/>
          </a:prstGeom>
        </p:spPr>
        <p:txBody>
          <a:bodyPr anchor="t" rtlCol="false" tIns="0" lIns="0" bIns="0" rIns="0">
            <a:spAutoFit/>
          </a:bodyPr>
          <a:lstStyle/>
          <a:p>
            <a:pPr algn="l">
              <a:lnSpc>
                <a:spcPts val="2800"/>
              </a:lnSpc>
            </a:pPr>
            <a:r>
              <a:rPr lang="en-US" sz="2000">
                <a:solidFill>
                  <a:srgbClr val="1F4894"/>
                </a:solidFill>
                <a:latin typeface="Mortend Bold"/>
                <a:ea typeface="Mortend Bold"/>
                <a:cs typeface="Mortend Bold"/>
                <a:sym typeface="Mortend Bold"/>
              </a:rPr>
              <a:t>Problem definition</a:t>
            </a:r>
          </a:p>
        </p:txBody>
      </p:sp>
      <p:sp>
        <p:nvSpPr>
          <p:cNvPr name="TextBox 6" id="6"/>
          <p:cNvSpPr txBox="true"/>
          <p:nvPr/>
        </p:nvSpPr>
        <p:spPr>
          <a:xfrm rot="0">
            <a:off x="746425" y="2785898"/>
            <a:ext cx="3739853" cy="6007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Bukti Masalah</a:t>
            </a:r>
          </a:p>
          <a:p>
            <a:pPr algn="l">
              <a:lnSpc>
                <a:spcPts val="1540"/>
              </a:lnSpc>
            </a:pPr>
            <a:r>
              <a:rPr lang="en-US" sz="1100">
                <a:solidFill>
                  <a:srgbClr val="0C2A52"/>
                </a:solidFill>
                <a:latin typeface="Oxanium"/>
                <a:ea typeface="Oxanium"/>
                <a:cs typeface="Oxanium"/>
                <a:sym typeface="Oxanium"/>
              </a:rPr>
              <a:t>Data, laporan, observasi, regulasi, atau pengalaman nyata.</a:t>
            </a:r>
          </a:p>
          <a:p>
            <a:pPr algn="l">
              <a:lnSpc>
                <a:spcPts val="1260"/>
              </a:lnSpc>
              <a:spcBef>
                <a:spcPct val="0"/>
              </a:spcBef>
            </a:pPr>
            <a:r>
              <a:rPr lang="en-US" sz="900">
                <a:solidFill>
                  <a:srgbClr val="0C2A52"/>
                </a:solidFill>
                <a:latin typeface="Oxanium"/>
                <a:ea typeface="Oxanium"/>
                <a:cs typeface="Oxanium"/>
                <a:sym typeface="Oxanium"/>
              </a:rPr>
              <a:t>(maks. 800 karakter)</a:t>
            </a:r>
          </a:p>
        </p:txBody>
      </p:sp>
      <p:sp>
        <p:nvSpPr>
          <p:cNvPr name="TextBox 7" id="7"/>
          <p:cNvSpPr txBox="true"/>
          <p:nvPr/>
        </p:nvSpPr>
        <p:spPr>
          <a:xfrm rot="0">
            <a:off x="794298" y="10159188"/>
            <a:ext cx="6000127"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5</a:t>
            </a:r>
          </a:p>
        </p:txBody>
      </p:sp>
      <p:grpSp>
        <p:nvGrpSpPr>
          <p:cNvPr name="Group 8" id="8"/>
          <p:cNvGrpSpPr/>
          <p:nvPr/>
        </p:nvGrpSpPr>
        <p:grpSpPr>
          <a:xfrm rot="0">
            <a:off x="756000" y="1312149"/>
            <a:ext cx="6048000" cy="1350899"/>
            <a:chOff x="0" y="0"/>
            <a:chExt cx="1693333" cy="378228"/>
          </a:xfrm>
        </p:grpSpPr>
        <p:sp>
          <p:nvSpPr>
            <p:cNvPr name="Freeform 9" id="9"/>
            <p:cNvSpPr/>
            <p:nvPr/>
          </p:nvSpPr>
          <p:spPr>
            <a:xfrm flipH="false" flipV="false" rot="0">
              <a:off x="0" y="0"/>
              <a:ext cx="1693333" cy="378228"/>
            </a:xfrm>
            <a:custGeom>
              <a:avLst/>
              <a:gdLst/>
              <a:ahLst/>
              <a:cxnLst/>
              <a:rect r="r" b="b" t="t" l="l"/>
              <a:pathLst>
                <a:path h="378228" w="1693333">
                  <a:moveTo>
                    <a:pt x="0" y="0"/>
                  </a:moveTo>
                  <a:lnTo>
                    <a:pt x="1693333" y="0"/>
                  </a:lnTo>
                  <a:lnTo>
                    <a:pt x="1693333" y="378228"/>
                  </a:lnTo>
                  <a:lnTo>
                    <a:pt x="0" y="378228"/>
                  </a:lnTo>
                  <a:close/>
                </a:path>
              </a:pathLst>
            </a:custGeom>
            <a:solidFill>
              <a:srgbClr val="FFFFFF"/>
            </a:solidFill>
          </p:spPr>
        </p:sp>
        <p:sp>
          <p:nvSpPr>
            <p:cNvPr name="TextBox 10" id="10"/>
            <p:cNvSpPr txBox="true"/>
            <p:nvPr/>
          </p:nvSpPr>
          <p:spPr>
            <a:xfrm>
              <a:off x="0" y="-28575"/>
              <a:ext cx="1693333" cy="406803"/>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Tree>
  </p:cSld>
  <p:clrMapOvr>
    <a:masterClrMapping/>
  </p:clrMapOvr>
</p:sld>
</file>

<file path=ppt/slides/slide9.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756000" y="679800"/>
            <a:ext cx="6048000" cy="377825"/>
          </a:xfrm>
          <a:prstGeom prst="rect">
            <a:avLst/>
          </a:prstGeom>
        </p:spPr>
        <p:txBody>
          <a:bodyPr anchor="t" rtlCol="false" tIns="0" lIns="0" bIns="0" rIns="0">
            <a:spAutoFit/>
          </a:bodyPr>
          <a:lstStyle/>
          <a:p>
            <a:pPr algn="l">
              <a:lnSpc>
                <a:spcPts val="2800"/>
              </a:lnSpc>
            </a:pPr>
            <a:r>
              <a:rPr lang="en-US" sz="2000">
                <a:solidFill>
                  <a:srgbClr val="1F4894"/>
                </a:solidFill>
                <a:latin typeface="Mortend Bold"/>
                <a:ea typeface="Mortend Bold"/>
                <a:cs typeface="Mortend Bold"/>
                <a:sym typeface="Mortend Bold"/>
              </a:rPr>
              <a:t>proposed solution</a:t>
            </a:r>
          </a:p>
        </p:txBody>
      </p:sp>
      <p:sp>
        <p:nvSpPr>
          <p:cNvPr name="TextBox 3" id="3"/>
          <p:cNvSpPr txBox="true"/>
          <p:nvPr/>
        </p:nvSpPr>
        <p:spPr>
          <a:xfrm rot="0">
            <a:off x="756000" y="1254999"/>
            <a:ext cx="5946651" cy="6007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Solusi Inti</a:t>
            </a:r>
          </a:p>
          <a:p>
            <a:pPr algn="l">
              <a:lnSpc>
                <a:spcPts val="1540"/>
              </a:lnSpc>
            </a:pPr>
            <a:r>
              <a:rPr lang="en-US" sz="1100">
                <a:solidFill>
                  <a:srgbClr val="0C2A52"/>
                </a:solidFill>
                <a:latin typeface="Oxanium"/>
                <a:ea typeface="Oxanium"/>
                <a:cs typeface="Oxanium"/>
                <a:sym typeface="Oxanium"/>
              </a:rPr>
              <a:t>Deskripsikan secara umum solusi yang Anda ajukan dan bagaimana solusi tersebut bekerja.</a:t>
            </a:r>
          </a:p>
          <a:p>
            <a:pPr algn="l">
              <a:lnSpc>
                <a:spcPts val="1260"/>
              </a:lnSpc>
              <a:spcBef>
                <a:spcPct val="0"/>
              </a:spcBef>
            </a:pPr>
            <a:r>
              <a:rPr lang="en-US" sz="900">
                <a:solidFill>
                  <a:srgbClr val="0C2A52"/>
                </a:solidFill>
                <a:latin typeface="Oxanium"/>
                <a:ea typeface="Oxanium"/>
                <a:cs typeface="Oxanium"/>
                <a:sym typeface="Oxanium"/>
              </a:rPr>
              <a:t>(maks. 900 karakter)</a:t>
            </a:r>
          </a:p>
        </p:txBody>
      </p:sp>
      <p:sp>
        <p:nvSpPr>
          <p:cNvPr name="TextBox 4" id="4"/>
          <p:cNvSpPr txBox="true"/>
          <p:nvPr/>
        </p:nvSpPr>
        <p:spPr>
          <a:xfrm rot="0">
            <a:off x="794298" y="10159188"/>
            <a:ext cx="6000127"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6</a:t>
            </a:r>
          </a:p>
        </p:txBody>
      </p:sp>
      <p:grpSp>
        <p:nvGrpSpPr>
          <p:cNvPr name="Group 5" id="5"/>
          <p:cNvGrpSpPr/>
          <p:nvPr/>
        </p:nvGrpSpPr>
        <p:grpSpPr>
          <a:xfrm rot="0">
            <a:off x="756000" y="1927709"/>
            <a:ext cx="6004506" cy="4570349"/>
            <a:chOff x="0" y="0"/>
            <a:chExt cx="1681156" cy="1279617"/>
          </a:xfrm>
        </p:grpSpPr>
        <p:sp>
          <p:nvSpPr>
            <p:cNvPr name="Freeform 6" id="6"/>
            <p:cNvSpPr/>
            <p:nvPr/>
          </p:nvSpPr>
          <p:spPr>
            <a:xfrm flipH="false" flipV="false" rot="0">
              <a:off x="0" y="0"/>
              <a:ext cx="1681156" cy="1279617"/>
            </a:xfrm>
            <a:custGeom>
              <a:avLst/>
              <a:gdLst/>
              <a:ahLst/>
              <a:cxnLst/>
              <a:rect r="r" b="b" t="t" l="l"/>
              <a:pathLst>
                <a:path h="1279617" w="1681156">
                  <a:moveTo>
                    <a:pt x="0" y="0"/>
                  </a:moveTo>
                  <a:lnTo>
                    <a:pt x="1681156" y="0"/>
                  </a:lnTo>
                  <a:lnTo>
                    <a:pt x="1681156" y="1279617"/>
                  </a:lnTo>
                  <a:lnTo>
                    <a:pt x="0" y="1279617"/>
                  </a:lnTo>
                  <a:close/>
                </a:path>
              </a:pathLst>
            </a:custGeom>
            <a:solidFill>
              <a:srgbClr val="FFFFFF"/>
            </a:solidFill>
          </p:spPr>
        </p:sp>
        <p:sp>
          <p:nvSpPr>
            <p:cNvPr name="TextBox 7" id="7"/>
            <p:cNvSpPr txBox="true"/>
            <p:nvPr/>
          </p:nvSpPr>
          <p:spPr>
            <a:xfrm>
              <a:off x="0" y="-28575"/>
              <a:ext cx="1681156" cy="1308192"/>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
        <p:nvSpPr>
          <p:cNvPr name="TextBox 8" id="8"/>
          <p:cNvSpPr txBox="true"/>
          <p:nvPr/>
        </p:nvSpPr>
        <p:spPr>
          <a:xfrm rot="0">
            <a:off x="756000" y="6626083"/>
            <a:ext cx="5946651" cy="4102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Gambar / Ilustrasi / Skema</a:t>
            </a:r>
          </a:p>
          <a:p>
            <a:pPr algn="l">
              <a:lnSpc>
                <a:spcPts val="1260"/>
              </a:lnSpc>
              <a:spcBef>
                <a:spcPct val="0"/>
              </a:spcBef>
            </a:pPr>
            <a:r>
              <a:rPr lang="en-US" sz="900">
                <a:solidFill>
                  <a:srgbClr val="0C2A52"/>
                </a:solidFill>
                <a:latin typeface="Oxanium"/>
                <a:ea typeface="Oxanium"/>
                <a:cs typeface="Oxanium"/>
                <a:sym typeface="Oxanium"/>
              </a:rPr>
              <a:t>(jika ada)</a:t>
            </a:r>
          </a:p>
        </p:txBody>
      </p:sp>
      <p:grpSp>
        <p:nvGrpSpPr>
          <p:cNvPr name="Group 9" id="9"/>
          <p:cNvGrpSpPr/>
          <p:nvPr/>
        </p:nvGrpSpPr>
        <p:grpSpPr>
          <a:xfrm rot="0">
            <a:off x="756000" y="7112493"/>
            <a:ext cx="6048000" cy="2823507"/>
            <a:chOff x="0" y="0"/>
            <a:chExt cx="1693333" cy="790532"/>
          </a:xfrm>
        </p:grpSpPr>
        <p:sp>
          <p:nvSpPr>
            <p:cNvPr name="Freeform 10" id="10"/>
            <p:cNvSpPr/>
            <p:nvPr/>
          </p:nvSpPr>
          <p:spPr>
            <a:xfrm flipH="false" flipV="false" rot="0">
              <a:off x="0" y="0"/>
              <a:ext cx="1693333" cy="790532"/>
            </a:xfrm>
            <a:custGeom>
              <a:avLst/>
              <a:gdLst/>
              <a:ahLst/>
              <a:cxnLst/>
              <a:rect r="r" b="b" t="t" l="l"/>
              <a:pathLst>
                <a:path h="790532" w="1693333">
                  <a:moveTo>
                    <a:pt x="0" y="0"/>
                  </a:moveTo>
                  <a:lnTo>
                    <a:pt x="1693333" y="0"/>
                  </a:lnTo>
                  <a:lnTo>
                    <a:pt x="1693333" y="790532"/>
                  </a:lnTo>
                  <a:lnTo>
                    <a:pt x="0" y="790532"/>
                  </a:lnTo>
                  <a:close/>
                </a:path>
              </a:pathLst>
            </a:custGeom>
            <a:solidFill>
              <a:srgbClr val="FFFFFF"/>
            </a:solidFill>
          </p:spPr>
        </p:sp>
        <p:sp>
          <p:nvSpPr>
            <p:cNvPr name="TextBox 11" id="11"/>
            <p:cNvSpPr txBox="true"/>
            <p:nvPr/>
          </p:nvSpPr>
          <p:spPr>
            <a:xfrm>
              <a:off x="0" y="-28575"/>
              <a:ext cx="1693333" cy="819107"/>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Tree>
  </p:cSld>
  <p:clrMapOvr>
    <a:masterClrMapping/>
  </p:clrMapOvr>
</p:sld>
</file>

<file path=ppt/slides/slide10.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756000" y="679800"/>
            <a:ext cx="6048000" cy="377825"/>
          </a:xfrm>
          <a:prstGeom prst="rect">
            <a:avLst/>
          </a:prstGeom>
        </p:spPr>
        <p:txBody>
          <a:bodyPr anchor="t" rtlCol="false" tIns="0" lIns="0" bIns="0" rIns="0">
            <a:spAutoFit/>
          </a:bodyPr>
          <a:lstStyle/>
          <a:p>
            <a:pPr algn="l">
              <a:lnSpc>
                <a:spcPts val="2800"/>
              </a:lnSpc>
            </a:pPr>
            <a:r>
              <a:rPr lang="en-US" sz="2000">
                <a:solidFill>
                  <a:srgbClr val="1F4894"/>
                </a:solidFill>
                <a:latin typeface="Mortend Bold"/>
                <a:ea typeface="Mortend Bold"/>
                <a:cs typeface="Mortend Bold"/>
                <a:sym typeface="Mortend Bold"/>
              </a:rPr>
              <a:t>proposed solution</a:t>
            </a:r>
          </a:p>
        </p:txBody>
      </p:sp>
      <p:sp>
        <p:nvSpPr>
          <p:cNvPr name="TextBox 3" id="3"/>
          <p:cNvSpPr txBox="true"/>
          <p:nvPr/>
        </p:nvSpPr>
        <p:spPr>
          <a:xfrm rot="0">
            <a:off x="756000" y="1254999"/>
            <a:ext cx="5946651" cy="6007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Bagaimana Solusi Bekerja?</a:t>
            </a:r>
          </a:p>
          <a:p>
            <a:pPr algn="l">
              <a:lnSpc>
                <a:spcPts val="1540"/>
              </a:lnSpc>
            </a:pPr>
            <a:r>
              <a:rPr lang="en-US" sz="1100">
                <a:solidFill>
                  <a:srgbClr val="0C2A52"/>
                </a:solidFill>
                <a:latin typeface="Oxanium"/>
                <a:ea typeface="Oxanium"/>
                <a:cs typeface="Oxanium"/>
                <a:sym typeface="Oxanium"/>
              </a:rPr>
              <a:t>Jelaskan proses dari input → proses → output.</a:t>
            </a:r>
          </a:p>
          <a:p>
            <a:pPr algn="l">
              <a:lnSpc>
                <a:spcPts val="1260"/>
              </a:lnSpc>
              <a:spcBef>
                <a:spcPct val="0"/>
              </a:spcBef>
            </a:pPr>
            <a:r>
              <a:rPr lang="en-US" sz="900">
                <a:solidFill>
                  <a:srgbClr val="0C2A52"/>
                </a:solidFill>
                <a:latin typeface="Oxanium"/>
                <a:ea typeface="Oxanium"/>
                <a:cs typeface="Oxanium"/>
                <a:sym typeface="Oxanium"/>
              </a:rPr>
              <a:t>(maks. 900 karakter)</a:t>
            </a:r>
          </a:p>
        </p:txBody>
      </p:sp>
      <p:sp>
        <p:nvSpPr>
          <p:cNvPr name="TextBox 4" id="4"/>
          <p:cNvSpPr txBox="true"/>
          <p:nvPr/>
        </p:nvSpPr>
        <p:spPr>
          <a:xfrm rot="0">
            <a:off x="6665739" y="10159188"/>
            <a:ext cx="128687"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7</a:t>
            </a:r>
          </a:p>
        </p:txBody>
      </p:sp>
      <p:grpSp>
        <p:nvGrpSpPr>
          <p:cNvPr name="Group 5" id="5"/>
          <p:cNvGrpSpPr/>
          <p:nvPr/>
        </p:nvGrpSpPr>
        <p:grpSpPr>
          <a:xfrm rot="0">
            <a:off x="756000" y="1927709"/>
            <a:ext cx="6004506" cy="4570349"/>
            <a:chOff x="0" y="0"/>
            <a:chExt cx="1681156" cy="1279617"/>
          </a:xfrm>
        </p:grpSpPr>
        <p:sp>
          <p:nvSpPr>
            <p:cNvPr name="Freeform 6" id="6"/>
            <p:cNvSpPr/>
            <p:nvPr/>
          </p:nvSpPr>
          <p:spPr>
            <a:xfrm flipH="false" flipV="false" rot="0">
              <a:off x="0" y="0"/>
              <a:ext cx="1681156" cy="1279617"/>
            </a:xfrm>
            <a:custGeom>
              <a:avLst/>
              <a:gdLst/>
              <a:ahLst/>
              <a:cxnLst/>
              <a:rect r="r" b="b" t="t" l="l"/>
              <a:pathLst>
                <a:path h="1279617" w="1681156">
                  <a:moveTo>
                    <a:pt x="0" y="0"/>
                  </a:moveTo>
                  <a:lnTo>
                    <a:pt x="1681156" y="0"/>
                  </a:lnTo>
                  <a:lnTo>
                    <a:pt x="1681156" y="1279617"/>
                  </a:lnTo>
                  <a:lnTo>
                    <a:pt x="0" y="1279617"/>
                  </a:lnTo>
                  <a:close/>
                </a:path>
              </a:pathLst>
            </a:custGeom>
            <a:solidFill>
              <a:srgbClr val="FFFFFF"/>
            </a:solidFill>
          </p:spPr>
        </p:sp>
        <p:sp>
          <p:nvSpPr>
            <p:cNvPr name="TextBox 7" id="7"/>
            <p:cNvSpPr txBox="true"/>
            <p:nvPr/>
          </p:nvSpPr>
          <p:spPr>
            <a:xfrm>
              <a:off x="0" y="-28575"/>
              <a:ext cx="1681156" cy="1308192"/>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Tree>
  </p:cSld>
  <p:clrMapOvr>
    <a:masterClrMapping/>
  </p:clrMapOvr>
</p:sld>
</file>

<file path=ppt/slides/slide11.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756000" y="679800"/>
            <a:ext cx="6048000" cy="377825"/>
          </a:xfrm>
          <a:prstGeom prst="rect">
            <a:avLst/>
          </a:prstGeom>
        </p:spPr>
        <p:txBody>
          <a:bodyPr anchor="t" rtlCol="false" tIns="0" lIns="0" bIns="0" rIns="0">
            <a:spAutoFit/>
          </a:bodyPr>
          <a:lstStyle/>
          <a:p>
            <a:pPr algn="l">
              <a:lnSpc>
                <a:spcPts val="2800"/>
              </a:lnSpc>
            </a:pPr>
            <a:r>
              <a:rPr lang="en-US" sz="2000">
                <a:solidFill>
                  <a:srgbClr val="1F4894"/>
                </a:solidFill>
                <a:latin typeface="Mortend Bold"/>
                <a:ea typeface="Mortend Bold"/>
                <a:cs typeface="Mortend Bold"/>
                <a:sym typeface="Mortend Bold"/>
              </a:rPr>
              <a:t>impact &amp; outcome</a:t>
            </a:r>
          </a:p>
        </p:txBody>
      </p:sp>
      <p:sp>
        <p:nvSpPr>
          <p:cNvPr name="TextBox 3" id="3"/>
          <p:cNvSpPr txBox="true"/>
          <p:nvPr/>
        </p:nvSpPr>
        <p:spPr>
          <a:xfrm rot="0">
            <a:off x="756000" y="1254999"/>
            <a:ext cx="5946651" cy="6007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Manfaat Utama Jika Solusi Diterapkan</a:t>
            </a:r>
          </a:p>
          <a:p>
            <a:pPr algn="l">
              <a:lnSpc>
                <a:spcPts val="1540"/>
              </a:lnSpc>
            </a:pPr>
            <a:r>
              <a:rPr lang="en-US" sz="1100">
                <a:solidFill>
                  <a:srgbClr val="0C2A52"/>
                </a:solidFill>
                <a:latin typeface="Oxanium"/>
                <a:ea typeface="Oxanium"/>
                <a:cs typeface="Oxanium"/>
                <a:sym typeface="Oxanium"/>
              </a:rPr>
              <a:t>Jelaskan perubahan positif yang diharapkan bagi pengguna, industri, atau masyarakat.</a:t>
            </a:r>
          </a:p>
          <a:p>
            <a:pPr algn="l">
              <a:lnSpc>
                <a:spcPts val="1260"/>
              </a:lnSpc>
              <a:spcBef>
                <a:spcPct val="0"/>
              </a:spcBef>
            </a:pPr>
            <a:r>
              <a:rPr lang="en-US" sz="900">
                <a:solidFill>
                  <a:srgbClr val="0C2A52"/>
                </a:solidFill>
                <a:latin typeface="Oxanium"/>
                <a:ea typeface="Oxanium"/>
                <a:cs typeface="Oxanium"/>
                <a:sym typeface="Oxanium"/>
              </a:rPr>
              <a:t>(maks. 800 karakter)</a:t>
            </a:r>
          </a:p>
        </p:txBody>
      </p:sp>
      <p:sp>
        <p:nvSpPr>
          <p:cNvPr name="TextBox 4" id="4"/>
          <p:cNvSpPr txBox="true"/>
          <p:nvPr/>
        </p:nvSpPr>
        <p:spPr>
          <a:xfrm rot="0">
            <a:off x="6656412" y="10159188"/>
            <a:ext cx="138013"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8</a:t>
            </a:r>
          </a:p>
        </p:txBody>
      </p:sp>
      <p:grpSp>
        <p:nvGrpSpPr>
          <p:cNvPr name="Group 5" id="5"/>
          <p:cNvGrpSpPr/>
          <p:nvPr/>
        </p:nvGrpSpPr>
        <p:grpSpPr>
          <a:xfrm rot="0">
            <a:off x="756000" y="1927709"/>
            <a:ext cx="6004506" cy="4075049"/>
            <a:chOff x="0" y="0"/>
            <a:chExt cx="1681156" cy="1140942"/>
          </a:xfrm>
        </p:grpSpPr>
        <p:sp>
          <p:nvSpPr>
            <p:cNvPr name="Freeform 6" id="6"/>
            <p:cNvSpPr/>
            <p:nvPr/>
          </p:nvSpPr>
          <p:spPr>
            <a:xfrm flipH="false" flipV="false" rot="0">
              <a:off x="0" y="0"/>
              <a:ext cx="1681156" cy="1140942"/>
            </a:xfrm>
            <a:custGeom>
              <a:avLst/>
              <a:gdLst/>
              <a:ahLst/>
              <a:cxnLst/>
              <a:rect r="r" b="b" t="t" l="l"/>
              <a:pathLst>
                <a:path h="1140942" w="1681156">
                  <a:moveTo>
                    <a:pt x="0" y="0"/>
                  </a:moveTo>
                  <a:lnTo>
                    <a:pt x="1681156" y="0"/>
                  </a:lnTo>
                  <a:lnTo>
                    <a:pt x="1681156" y="1140942"/>
                  </a:lnTo>
                  <a:lnTo>
                    <a:pt x="0" y="1140942"/>
                  </a:lnTo>
                  <a:close/>
                </a:path>
              </a:pathLst>
            </a:custGeom>
            <a:solidFill>
              <a:srgbClr val="FFFFFF"/>
            </a:solidFill>
          </p:spPr>
        </p:sp>
        <p:sp>
          <p:nvSpPr>
            <p:cNvPr name="TextBox 7" id="7"/>
            <p:cNvSpPr txBox="true"/>
            <p:nvPr/>
          </p:nvSpPr>
          <p:spPr>
            <a:xfrm>
              <a:off x="0" y="-28575"/>
              <a:ext cx="1681156" cy="1169517"/>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
        <p:nvSpPr>
          <p:cNvPr name="TextBox 8" id="8"/>
          <p:cNvSpPr txBox="true"/>
          <p:nvPr/>
        </p:nvSpPr>
        <p:spPr>
          <a:xfrm rot="0">
            <a:off x="799494" y="6140927"/>
            <a:ext cx="5946651" cy="6007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Dampak Jangka Pendek dan Menengah</a:t>
            </a:r>
          </a:p>
          <a:p>
            <a:pPr algn="l">
              <a:lnSpc>
                <a:spcPts val="1540"/>
              </a:lnSpc>
            </a:pPr>
            <a:r>
              <a:rPr lang="en-US" sz="1100">
                <a:solidFill>
                  <a:srgbClr val="0C2A52"/>
                </a:solidFill>
                <a:latin typeface="Oxanium"/>
                <a:ea typeface="Oxanium"/>
                <a:cs typeface="Oxanium"/>
                <a:sym typeface="Oxanium"/>
              </a:rPr>
              <a:t>Uraikan dampak dalam waktu dekat dan dalam beberapa bulan/tahun ke depan.</a:t>
            </a:r>
          </a:p>
          <a:p>
            <a:pPr algn="l">
              <a:lnSpc>
                <a:spcPts val="1260"/>
              </a:lnSpc>
              <a:spcBef>
                <a:spcPct val="0"/>
              </a:spcBef>
            </a:pPr>
            <a:r>
              <a:rPr lang="en-US" sz="900">
                <a:solidFill>
                  <a:srgbClr val="0C2A52"/>
                </a:solidFill>
                <a:latin typeface="Oxanium"/>
                <a:ea typeface="Oxanium"/>
                <a:cs typeface="Oxanium"/>
                <a:sym typeface="Oxanium"/>
              </a:rPr>
              <a:t>(maks. 600 karakter)</a:t>
            </a:r>
          </a:p>
        </p:txBody>
      </p:sp>
      <p:grpSp>
        <p:nvGrpSpPr>
          <p:cNvPr name="Group 9" id="9"/>
          <p:cNvGrpSpPr/>
          <p:nvPr/>
        </p:nvGrpSpPr>
        <p:grpSpPr>
          <a:xfrm rot="0">
            <a:off x="799494" y="6813637"/>
            <a:ext cx="6004506" cy="3122363"/>
            <a:chOff x="0" y="0"/>
            <a:chExt cx="1681156" cy="874207"/>
          </a:xfrm>
        </p:grpSpPr>
        <p:sp>
          <p:nvSpPr>
            <p:cNvPr name="Freeform 10" id="10"/>
            <p:cNvSpPr/>
            <p:nvPr/>
          </p:nvSpPr>
          <p:spPr>
            <a:xfrm flipH="false" flipV="false" rot="0">
              <a:off x="0" y="0"/>
              <a:ext cx="1681156" cy="874207"/>
            </a:xfrm>
            <a:custGeom>
              <a:avLst/>
              <a:gdLst/>
              <a:ahLst/>
              <a:cxnLst/>
              <a:rect r="r" b="b" t="t" l="l"/>
              <a:pathLst>
                <a:path h="874207" w="1681156">
                  <a:moveTo>
                    <a:pt x="0" y="0"/>
                  </a:moveTo>
                  <a:lnTo>
                    <a:pt x="1681156" y="0"/>
                  </a:lnTo>
                  <a:lnTo>
                    <a:pt x="1681156" y="874207"/>
                  </a:lnTo>
                  <a:lnTo>
                    <a:pt x="0" y="874207"/>
                  </a:lnTo>
                  <a:close/>
                </a:path>
              </a:pathLst>
            </a:custGeom>
            <a:solidFill>
              <a:srgbClr val="FFFFFF"/>
            </a:solidFill>
          </p:spPr>
        </p:sp>
        <p:sp>
          <p:nvSpPr>
            <p:cNvPr name="TextBox 11" id="11"/>
            <p:cNvSpPr txBox="true"/>
            <p:nvPr/>
          </p:nvSpPr>
          <p:spPr>
            <a:xfrm>
              <a:off x="0" y="-28575"/>
              <a:ext cx="1681156" cy="902782"/>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Tree>
  </p:cSld>
  <p:clrMapOvr>
    <a:masterClrMapping/>
  </p:clrMapOvr>
</p:sld>
</file>

<file path=ppt/slides/slide12.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756000" y="679800"/>
            <a:ext cx="6048000" cy="377825"/>
          </a:xfrm>
          <a:prstGeom prst="rect">
            <a:avLst/>
          </a:prstGeom>
        </p:spPr>
        <p:txBody>
          <a:bodyPr anchor="t" rtlCol="false" tIns="0" lIns="0" bIns="0" rIns="0">
            <a:spAutoFit/>
          </a:bodyPr>
          <a:lstStyle/>
          <a:p>
            <a:pPr algn="l">
              <a:lnSpc>
                <a:spcPts val="2800"/>
              </a:lnSpc>
            </a:pPr>
            <a:r>
              <a:rPr lang="en-US" sz="2000">
                <a:solidFill>
                  <a:srgbClr val="1F4894"/>
                </a:solidFill>
                <a:latin typeface="Mortend Bold"/>
                <a:ea typeface="Mortend Bold"/>
                <a:cs typeface="Mortend Bold"/>
                <a:sym typeface="Mortend Bold"/>
              </a:rPr>
              <a:t>innovation &amp; differentiation</a:t>
            </a:r>
          </a:p>
        </p:txBody>
      </p:sp>
      <p:sp>
        <p:nvSpPr>
          <p:cNvPr name="TextBox 3" id="3"/>
          <p:cNvSpPr txBox="true"/>
          <p:nvPr/>
        </p:nvSpPr>
        <p:spPr>
          <a:xfrm rot="0">
            <a:off x="756000" y="1254999"/>
            <a:ext cx="5946651" cy="6007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Apa yang Membuat Solusi Ini Berbeda?</a:t>
            </a:r>
          </a:p>
          <a:p>
            <a:pPr algn="l">
              <a:lnSpc>
                <a:spcPts val="1540"/>
              </a:lnSpc>
            </a:pPr>
            <a:r>
              <a:rPr lang="en-US" sz="1100">
                <a:solidFill>
                  <a:srgbClr val="0C2A52"/>
                </a:solidFill>
                <a:latin typeface="Oxanium"/>
                <a:ea typeface="Oxanium"/>
                <a:cs typeface="Oxanium"/>
                <a:sym typeface="Oxanium"/>
              </a:rPr>
              <a:t>Jelaskan unsur keunikan, inovasi, atau pendekatan baru dari solusi Anda.</a:t>
            </a:r>
          </a:p>
          <a:p>
            <a:pPr algn="l">
              <a:lnSpc>
                <a:spcPts val="1260"/>
              </a:lnSpc>
              <a:spcBef>
                <a:spcPct val="0"/>
              </a:spcBef>
            </a:pPr>
            <a:r>
              <a:rPr lang="en-US" sz="900">
                <a:solidFill>
                  <a:srgbClr val="0C2A52"/>
                </a:solidFill>
                <a:latin typeface="Oxanium"/>
                <a:ea typeface="Oxanium"/>
                <a:cs typeface="Oxanium"/>
                <a:sym typeface="Oxanium"/>
              </a:rPr>
              <a:t>(maks. 700 karakter)</a:t>
            </a:r>
          </a:p>
        </p:txBody>
      </p:sp>
      <p:sp>
        <p:nvSpPr>
          <p:cNvPr name="TextBox 4" id="4"/>
          <p:cNvSpPr txBox="true"/>
          <p:nvPr/>
        </p:nvSpPr>
        <p:spPr>
          <a:xfrm rot="0">
            <a:off x="6656908" y="10159188"/>
            <a:ext cx="137517"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9</a:t>
            </a:r>
          </a:p>
        </p:txBody>
      </p:sp>
      <p:grpSp>
        <p:nvGrpSpPr>
          <p:cNvPr name="Group 5" id="5"/>
          <p:cNvGrpSpPr/>
          <p:nvPr/>
        </p:nvGrpSpPr>
        <p:grpSpPr>
          <a:xfrm rot="0">
            <a:off x="756000" y="1927709"/>
            <a:ext cx="6004506" cy="3579749"/>
            <a:chOff x="0" y="0"/>
            <a:chExt cx="1681156" cy="1002267"/>
          </a:xfrm>
        </p:grpSpPr>
        <p:sp>
          <p:nvSpPr>
            <p:cNvPr name="Freeform 6" id="6"/>
            <p:cNvSpPr/>
            <p:nvPr/>
          </p:nvSpPr>
          <p:spPr>
            <a:xfrm flipH="false" flipV="false" rot="0">
              <a:off x="0" y="0"/>
              <a:ext cx="1681156" cy="1002267"/>
            </a:xfrm>
            <a:custGeom>
              <a:avLst/>
              <a:gdLst/>
              <a:ahLst/>
              <a:cxnLst/>
              <a:rect r="r" b="b" t="t" l="l"/>
              <a:pathLst>
                <a:path h="1002267" w="1681156">
                  <a:moveTo>
                    <a:pt x="0" y="0"/>
                  </a:moveTo>
                  <a:lnTo>
                    <a:pt x="1681156" y="0"/>
                  </a:lnTo>
                  <a:lnTo>
                    <a:pt x="1681156" y="1002267"/>
                  </a:lnTo>
                  <a:lnTo>
                    <a:pt x="0" y="1002267"/>
                  </a:lnTo>
                  <a:close/>
                </a:path>
              </a:pathLst>
            </a:custGeom>
            <a:solidFill>
              <a:srgbClr val="FFFFFF"/>
            </a:solidFill>
          </p:spPr>
        </p:sp>
        <p:sp>
          <p:nvSpPr>
            <p:cNvPr name="TextBox 7" id="7"/>
            <p:cNvSpPr txBox="true"/>
            <p:nvPr/>
          </p:nvSpPr>
          <p:spPr>
            <a:xfrm>
              <a:off x="0" y="-28575"/>
              <a:ext cx="1681156" cy="1030842"/>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
        <p:nvSpPr>
          <p:cNvPr name="TextBox 8" id="8"/>
          <p:cNvSpPr txBox="true"/>
          <p:nvPr/>
        </p:nvSpPr>
        <p:spPr>
          <a:xfrm rot="0">
            <a:off x="756000" y="5634508"/>
            <a:ext cx="5946651" cy="7912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Posisi Solusi Dibanding Pendekatan atau Produk yang Sudah Ada</a:t>
            </a:r>
          </a:p>
          <a:p>
            <a:pPr algn="l">
              <a:lnSpc>
                <a:spcPts val="1540"/>
              </a:lnSpc>
            </a:pPr>
            <a:r>
              <a:rPr lang="en-US" sz="1100">
                <a:solidFill>
                  <a:srgbClr val="0C2A52"/>
                </a:solidFill>
                <a:latin typeface="Oxanium"/>
                <a:ea typeface="Oxanium"/>
                <a:cs typeface="Oxanium"/>
                <a:sym typeface="Oxanium"/>
              </a:rPr>
              <a:t>Jika sudah ada solusi serupa di pasar, jelaskan bagaimana solusi Anda melengkapi, memperbaiki, atau melampaui pendekatan tersebut.</a:t>
            </a:r>
          </a:p>
          <a:p>
            <a:pPr algn="l">
              <a:lnSpc>
                <a:spcPts val="1260"/>
              </a:lnSpc>
              <a:spcBef>
                <a:spcPct val="0"/>
              </a:spcBef>
            </a:pPr>
            <a:r>
              <a:rPr lang="en-US" sz="900">
                <a:solidFill>
                  <a:srgbClr val="0C2A52"/>
                </a:solidFill>
                <a:latin typeface="Oxanium"/>
                <a:ea typeface="Oxanium"/>
                <a:cs typeface="Oxanium"/>
                <a:sym typeface="Oxanium"/>
              </a:rPr>
              <a:t>(maks. 700 karakter)</a:t>
            </a:r>
          </a:p>
        </p:txBody>
      </p:sp>
      <p:grpSp>
        <p:nvGrpSpPr>
          <p:cNvPr name="Group 9" id="9"/>
          <p:cNvGrpSpPr/>
          <p:nvPr/>
        </p:nvGrpSpPr>
        <p:grpSpPr>
          <a:xfrm rot="0">
            <a:off x="756000" y="6501918"/>
            <a:ext cx="6048000" cy="3434082"/>
            <a:chOff x="0" y="0"/>
            <a:chExt cx="1693333" cy="961482"/>
          </a:xfrm>
        </p:grpSpPr>
        <p:sp>
          <p:nvSpPr>
            <p:cNvPr name="Freeform 10" id="10"/>
            <p:cNvSpPr/>
            <p:nvPr/>
          </p:nvSpPr>
          <p:spPr>
            <a:xfrm flipH="false" flipV="false" rot="0">
              <a:off x="0" y="0"/>
              <a:ext cx="1693333" cy="961482"/>
            </a:xfrm>
            <a:custGeom>
              <a:avLst/>
              <a:gdLst/>
              <a:ahLst/>
              <a:cxnLst/>
              <a:rect r="r" b="b" t="t" l="l"/>
              <a:pathLst>
                <a:path h="961482" w="1693333">
                  <a:moveTo>
                    <a:pt x="0" y="0"/>
                  </a:moveTo>
                  <a:lnTo>
                    <a:pt x="1693333" y="0"/>
                  </a:lnTo>
                  <a:lnTo>
                    <a:pt x="1693333" y="961482"/>
                  </a:lnTo>
                  <a:lnTo>
                    <a:pt x="0" y="961482"/>
                  </a:lnTo>
                  <a:close/>
                </a:path>
              </a:pathLst>
            </a:custGeom>
            <a:solidFill>
              <a:srgbClr val="FFFFFF"/>
            </a:solidFill>
          </p:spPr>
        </p:sp>
        <p:sp>
          <p:nvSpPr>
            <p:cNvPr name="TextBox 11" id="11"/>
            <p:cNvSpPr txBox="true"/>
            <p:nvPr/>
          </p:nvSpPr>
          <p:spPr>
            <a:xfrm>
              <a:off x="0" y="-28575"/>
              <a:ext cx="1693333" cy="990057"/>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Tree>
  </p:cSld>
  <p:clrMapOvr>
    <a:masterClrMapping/>
  </p:clrMapOvr>
</p:sld>
</file>

<file path=ppt/slides/slide13.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756000" y="679800"/>
            <a:ext cx="6048000" cy="377825"/>
          </a:xfrm>
          <a:prstGeom prst="rect">
            <a:avLst/>
          </a:prstGeom>
        </p:spPr>
        <p:txBody>
          <a:bodyPr anchor="t" rtlCol="false" tIns="0" lIns="0" bIns="0" rIns="0">
            <a:spAutoFit/>
          </a:bodyPr>
          <a:lstStyle/>
          <a:p>
            <a:pPr algn="l">
              <a:lnSpc>
                <a:spcPts val="2800"/>
              </a:lnSpc>
            </a:pPr>
            <a:r>
              <a:rPr lang="en-US" sz="2000">
                <a:solidFill>
                  <a:srgbClr val="1F4894"/>
                </a:solidFill>
                <a:latin typeface="Mortend Bold"/>
                <a:ea typeface="Mortend Bold"/>
                <a:cs typeface="Mortend Bold"/>
                <a:sym typeface="Mortend Bold"/>
              </a:rPr>
              <a:t>technical approach</a:t>
            </a:r>
          </a:p>
        </p:txBody>
      </p:sp>
      <p:sp>
        <p:nvSpPr>
          <p:cNvPr name="TextBox 3" id="3"/>
          <p:cNvSpPr txBox="true"/>
          <p:nvPr/>
        </p:nvSpPr>
        <p:spPr>
          <a:xfrm rot="0">
            <a:off x="756000" y="1254999"/>
            <a:ext cx="5946651" cy="7912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Teknologi Utama yang Digunakan</a:t>
            </a:r>
          </a:p>
          <a:p>
            <a:pPr algn="l">
              <a:lnSpc>
                <a:spcPts val="1540"/>
              </a:lnSpc>
            </a:pPr>
            <a:r>
              <a:rPr lang="en-US" sz="1100">
                <a:solidFill>
                  <a:srgbClr val="0C2A52"/>
                </a:solidFill>
                <a:latin typeface="Oxanium"/>
                <a:ea typeface="Oxanium"/>
                <a:cs typeface="Oxanium"/>
                <a:sym typeface="Oxanium"/>
              </a:rPr>
              <a:t>Sebutkan teknologi atau pendekatan utama (contoh: AI, aplikasi web, mobile, data analytics, automation).</a:t>
            </a:r>
          </a:p>
          <a:p>
            <a:pPr algn="l">
              <a:lnSpc>
                <a:spcPts val="1260"/>
              </a:lnSpc>
              <a:spcBef>
                <a:spcPct val="0"/>
              </a:spcBef>
            </a:pPr>
            <a:r>
              <a:rPr lang="en-US" sz="900">
                <a:solidFill>
                  <a:srgbClr val="0C2A52"/>
                </a:solidFill>
                <a:latin typeface="Oxanium"/>
                <a:ea typeface="Oxanium"/>
                <a:cs typeface="Oxanium"/>
                <a:sym typeface="Oxanium"/>
              </a:rPr>
              <a:t>(maks. 700 karakter)</a:t>
            </a:r>
          </a:p>
        </p:txBody>
      </p:sp>
      <p:sp>
        <p:nvSpPr>
          <p:cNvPr name="TextBox 4" id="4"/>
          <p:cNvSpPr txBox="true"/>
          <p:nvPr/>
        </p:nvSpPr>
        <p:spPr>
          <a:xfrm rot="0">
            <a:off x="6575251" y="10159188"/>
            <a:ext cx="219174"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10</a:t>
            </a:r>
          </a:p>
        </p:txBody>
      </p:sp>
      <p:grpSp>
        <p:nvGrpSpPr>
          <p:cNvPr name="Group 5" id="5"/>
          <p:cNvGrpSpPr/>
          <p:nvPr/>
        </p:nvGrpSpPr>
        <p:grpSpPr>
          <a:xfrm rot="0">
            <a:off x="756000" y="2118209"/>
            <a:ext cx="6004506" cy="3579749"/>
            <a:chOff x="0" y="0"/>
            <a:chExt cx="1681156" cy="1002267"/>
          </a:xfrm>
        </p:grpSpPr>
        <p:sp>
          <p:nvSpPr>
            <p:cNvPr name="Freeform 6" id="6"/>
            <p:cNvSpPr/>
            <p:nvPr/>
          </p:nvSpPr>
          <p:spPr>
            <a:xfrm flipH="false" flipV="false" rot="0">
              <a:off x="0" y="0"/>
              <a:ext cx="1681156" cy="1002267"/>
            </a:xfrm>
            <a:custGeom>
              <a:avLst/>
              <a:gdLst/>
              <a:ahLst/>
              <a:cxnLst/>
              <a:rect r="r" b="b" t="t" l="l"/>
              <a:pathLst>
                <a:path h="1002267" w="1681156">
                  <a:moveTo>
                    <a:pt x="0" y="0"/>
                  </a:moveTo>
                  <a:lnTo>
                    <a:pt x="1681156" y="0"/>
                  </a:lnTo>
                  <a:lnTo>
                    <a:pt x="1681156" y="1002267"/>
                  </a:lnTo>
                  <a:lnTo>
                    <a:pt x="0" y="1002267"/>
                  </a:lnTo>
                  <a:close/>
                </a:path>
              </a:pathLst>
            </a:custGeom>
            <a:solidFill>
              <a:srgbClr val="FFFFFF"/>
            </a:solidFill>
          </p:spPr>
        </p:sp>
        <p:sp>
          <p:nvSpPr>
            <p:cNvPr name="TextBox 7" id="7"/>
            <p:cNvSpPr txBox="true"/>
            <p:nvPr/>
          </p:nvSpPr>
          <p:spPr>
            <a:xfrm>
              <a:off x="0" y="-28575"/>
              <a:ext cx="1681156" cy="1030842"/>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
        <p:nvSpPr>
          <p:cNvPr name="TextBox 8" id="8"/>
          <p:cNvSpPr txBox="true"/>
          <p:nvPr/>
        </p:nvSpPr>
        <p:spPr>
          <a:xfrm rot="0">
            <a:off x="777747" y="5834339"/>
            <a:ext cx="5946651" cy="6007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Pemilihan dan Penggunaan Teknologi</a:t>
            </a:r>
          </a:p>
          <a:p>
            <a:pPr algn="l">
              <a:lnSpc>
                <a:spcPts val="1540"/>
              </a:lnSpc>
            </a:pPr>
            <a:r>
              <a:rPr lang="en-US" sz="1100">
                <a:solidFill>
                  <a:srgbClr val="0C2A52"/>
                </a:solidFill>
                <a:latin typeface="Oxanium"/>
                <a:ea typeface="Oxanium"/>
                <a:cs typeface="Oxanium"/>
                <a:sym typeface="Oxanium"/>
              </a:rPr>
              <a:t>Jelaskan mengapa Anda memilih teknologi tersebut dan bagaimana cara menggunakannya.</a:t>
            </a:r>
          </a:p>
          <a:p>
            <a:pPr algn="l">
              <a:lnSpc>
                <a:spcPts val="1260"/>
              </a:lnSpc>
              <a:spcBef>
                <a:spcPct val="0"/>
              </a:spcBef>
            </a:pPr>
            <a:r>
              <a:rPr lang="en-US" sz="900">
                <a:solidFill>
                  <a:srgbClr val="0C2A52"/>
                </a:solidFill>
                <a:latin typeface="Oxanium"/>
                <a:ea typeface="Oxanium"/>
                <a:cs typeface="Oxanium"/>
                <a:sym typeface="Oxanium"/>
              </a:rPr>
              <a:t>(maks. 600 karakter)</a:t>
            </a:r>
          </a:p>
        </p:txBody>
      </p:sp>
      <p:grpSp>
        <p:nvGrpSpPr>
          <p:cNvPr name="Group 9" id="9"/>
          <p:cNvGrpSpPr/>
          <p:nvPr/>
        </p:nvGrpSpPr>
        <p:grpSpPr>
          <a:xfrm rot="0">
            <a:off x="777747" y="6511249"/>
            <a:ext cx="6004506" cy="3424751"/>
            <a:chOff x="0" y="0"/>
            <a:chExt cx="1681156" cy="958870"/>
          </a:xfrm>
        </p:grpSpPr>
        <p:sp>
          <p:nvSpPr>
            <p:cNvPr name="Freeform 10" id="10"/>
            <p:cNvSpPr/>
            <p:nvPr/>
          </p:nvSpPr>
          <p:spPr>
            <a:xfrm flipH="false" flipV="false" rot="0">
              <a:off x="0" y="0"/>
              <a:ext cx="1681156" cy="958870"/>
            </a:xfrm>
            <a:custGeom>
              <a:avLst/>
              <a:gdLst/>
              <a:ahLst/>
              <a:cxnLst/>
              <a:rect r="r" b="b" t="t" l="l"/>
              <a:pathLst>
                <a:path h="958870" w="1681156">
                  <a:moveTo>
                    <a:pt x="0" y="0"/>
                  </a:moveTo>
                  <a:lnTo>
                    <a:pt x="1681156" y="0"/>
                  </a:lnTo>
                  <a:lnTo>
                    <a:pt x="1681156" y="958870"/>
                  </a:lnTo>
                  <a:lnTo>
                    <a:pt x="0" y="958870"/>
                  </a:lnTo>
                  <a:close/>
                </a:path>
              </a:pathLst>
            </a:custGeom>
            <a:solidFill>
              <a:srgbClr val="FFFFFF"/>
            </a:solidFill>
          </p:spPr>
        </p:sp>
        <p:sp>
          <p:nvSpPr>
            <p:cNvPr name="TextBox 11" id="11"/>
            <p:cNvSpPr txBox="true"/>
            <p:nvPr/>
          </p:nvSpPr>
          <p:spPr>
            <a:xfrm>
              <a:off x="0" y="-28575"/>
              <a:ext cx="1681156" cy="987445"/>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Tree>
  </p:cSld>
  <p:clrMapOvr>
    <a:masterClrMapping/>
  </p:clrMapOvr>
</p:sld>
</file>

<file path=ppt/slides/slide14.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756000" y="679800"/>
            <a:ext cx="6048000" cy="377825"/>
          </a:xfrm>
          <a:prstGeom prst="rect">
            <a:avLst/>
          </a:prstGeom>
        </p:spPr>
        <p:txBody>
          <a:bodyPr anchor="t" rtlCol="false" tIns="0" lIns="0" bIns="0" rIns="0">
            <a:spAutoFit/>
          </a:bodyPr>
          <a:lstStyle/>
          <a:p>
            <a:pPr algn="l">
              <a:lnSpc>
                <a:spcPts val="2800"/>
              </a:lnSpc>
            </a:pPr>
            <a:r>
              <a:rPr lang="en-US" sz="2000">
                <a:solidFill>
                  <a:srgbClr val="1F4894"/>
                </a:solidFill>
                <a:latin typeface="Mortend Bold"/>
                <a:ea typeface="Mortend Bold"/>
                <a:cs typeface="Mortend Bold"/>
                <a:sym typeface="Mortend Bold"/>
              </a:rPr>
              <a:t>technical approach</a:t>
            </a:r>
          </a:p>
        </p:txBody>
      </p:sp>
      <p:sp>
        <p:nvSpPr>
          <p:cNvPr name="TextBox 3" id="3"/>
          <p:cNvSpPr txBox="true"/>
          <p:nvPr/>
        </p:nvSpPr>
        <p:spPr>
          <a:xfrm rot="0">
            <a:off x="756000" y="1254999"/>
            <a:ext cx="5946651" cy="6007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Algoritma Solusi</a:t>
            </a:r>
          </a:p>
          <a:p>
            <a:pPr algn="l">
              <a:lnSpc>
                <a:spcPts val="1540"/>
              </a:lnSpc>
            </a:pPr>
            <a:r>
              <a:rPr lang="en-US" sz="1100">
                <a:solidFill>
                  <a:srgbClr val="0C2A52"/>
                </a:solidFill>
                <a:latin typeface="Oxanium"/>
                <a:ea typeface="Oxanium"/>
                <a:cs typeface="Oxanium"/>
                <a:sym typeface="Oxanium"/>
              </a:rPr>
              <a:t>Jelaskan algoritma AI/ML dan/atau blockchain yang akan Anda gunakan.</a:t>
            </a:r>
          </a:p>
          <a:p>
            <a:pPr algn="l">
              <a:lnSpc>
                <a:spcPts val="1260"/>
              </a:lnSpc>
              <a:spcBef>
                <a:spcPct val="0"/>
              </a:spcBef>
            </a:pPr>
            <a:r>
              <a:rPr lang="en-US" sz="900">
                <a:solidFill>
                  <a:srgbClr val="0C2A52"/>
                </a:solidFill>
                <a:latin typeface="Oxanium"/>
                <a:ea typeface="Oxanium"/>
                <a:cs typeface="Oxanium"/>
                <a:sym typeface="Oxanium"/>
              </a:rPr>
              <a:t>(maks. 700 karakter)</a:t>
            </a:r>
          </a:p>
        </p:txBody>
      </p:sp>
      <p:sp>
        <p:nvSpPr>
          <p:cNvPr name="TextBox 4" id="4"/>
          <p:cNvSpPr txBox="true"/>
          <p:nvPr/>
        </p:nvSpPr>
        <p:spPr>
          <a:xfrm rot="0">
            <a:off x="6657504" y="10159188"/>
            <a:ext cx="136922"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11</a:t>
            </a:r>
          </a:p>
        </p:txBody>
      </p:sp>
      <p:grpSp>
        <p:nvGrpSpPr>
          <p:cNvPr name="Group 5" id="5"/>
          <p:cNvGrpSpPr/>
          <p:nvPr/>
        </p:nvGrpSpPr>
        <p:grpSpPr>
          <a:xfrm rot="0">
            <a:off x="748819" y="1927709"/>
            <a:ext cx="6004506" cy="3579749"/>
            <a:chOff x="0" y="0"/>
            <a:chExt cx="1681156" cy="1002267"/>
          </a:xfrm>
        </p:grpSpPr>
        <p:sp>
          <p:nvSpPr>
            <p:cNvPr name="Freeform 6" id="6"/>
            <p:cNvSpPr/>
            <p:nvPr/>
          </p:nvSpPr>
          <p:spPr>
            <a:xfrm flipH="false" flipV="false" rot="0">
              <a:off x="0" y="0"/>
              <a:ext cx="1681156" cy="1002267"/>
            </a:xfrm>
            <a:custGeom>
              <a:avLst/>
              <a:gdLst/>
              <a:ahLst/>
              <a:cxnLst/>
              <a:rect r="r" b="b" t="t" l="l"/>
              <a:pathLst>
                <a:path h="1002267" w="1681156">
                  <a:moveTo>
                    <a:pt x="0" y="0"/>
                  </a:moveTo>
                  <a:lnTo>
                    <a:pt x="1681156" y="0"/>
                  </a:lnTo>
                  <a:lnTo>
                    <a:pt x="1681156" y="1002267"/>
                  </a:lnTo>
                  <a:lnTo>
                    <a:pt x="0" y="1002267"/>
                  </a:lnTo>
                  <a:close/>
                </a:path>
              </a:pathLst>
            </a:custGeom>
            <a:solidFill>
              <a:srgbClr val="FFFFFF"/>
            </a:solidFill>
          </p:spPr>
        </p:sp>
        <p:sp>
          <p:nvSpPr>
            <p:cNvPr name="TextBox 7" id="7"/>
            <p:cNvSpPr txBox="true"/>
            <p:nvPr/>
          </p:nvSpPr>
          <p:spPr>
            <a:xfrm>
              <a:off x="0" y="-28575"/>
              <a:ext cx="1681156" cy="1030842"/>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
        <p:nvSpPr>
          <p:cNvPr name="TextBox 8" id="8"/>
          <p:cNvSpPr txBox="true"/>
          <p:nvPr/>
        </p:nvSpPr>
        <p:spPr>
          <a:xfrm rot="0">
            <a:off x="756000" y="5634508"/>
            <a:ext cx="5946651" cy="7912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Data atau Input Utama yang Digunakan</a:t>
            </a:r>
          </a:p>
          <a:p>
            <a:pPr algn="l">
              <a:lnSpc>
                <a:spcPts val="1540"/>
              </a:lnSpc>
            </a:pPr>
            <a:r>
              <a:rPr lang="en-US" sz="1100">
                <a:solidFill>
                  <a:srgbClr val="0C2A52"/>
                </a:solidFill>
                <a:latin typeface="Oxanium"/>
                <a:ea typeface="Oxanium"/>
                <a:cs typeface="Oxanium"/>
                <a:sym typeface="Oxanium"/>
              </a:rPr>
              <a:t>Jelaskan data apa yang digunakan dan dari mana asalnya, serta kualitas dan keandalan data tersebut.</a:t>
            </a:r>
          </a:p>
          <a:p>
            <a:pPr algn="l">
              <a:lnSpc>
                <a:spcPts val="1260"/>
              </a:lnSpc>
              <a:spcBef>
                <a:spcPct val="0"/>
              </a:spcBef>
            </a:pPr>
            <a:r>
              <a:rPr lang="en-US" sz="900">
                <a:solidFill>
                  <a:srgbClr val="0C2A52"/>
                </a:solidFill>
                <a:latin typeface="Oxanium"/>
                <a:ea typeface="Oxanium"/>
                <a:cs typeface="Oxanium"/>
                <a:sym typeface="Oxanium"/>
              </a:rPr>
              <a:t>(maks. 900 karakter)</a:t>
            </a:r>
          </a:p>
        </p:txBody>
      </p:sp>
      <p:grpSp>
        <p:nvGrpSpPr>
          <p:cNvPr name="Group 9" id="9"/>
          <p:cNvGrpSpPr/>
          <p:nvPr/>
        </p:nvGrpSpPr>
        <p:grpSpPr>
          <a:xfrm rot="0">
            <a:off x="756000" y="6501918"/>
            <a:ext cx="6004506" cy="3434082"/>
            <a:chOff x="0" y="0"/>
            <a:chExt cx="1681156" cy="961482"/>
          </a:xfrm>
        </p:grpSpPr>
        <p:sp>
          <p:nvSpPr>
            <p:cNvPr name="Freeform 10" id="10"/>
            <p:cNvSpPr/>
            <p:nvPr/>
          </p:nvSpPr>
          <p:spPr>
            <a:xfrm flipH="false" flipV="false" rot="0">
              <a:off x="0" y="0"/>
              <a:ext cx="1681156" cy="961482"/>
            </a:xfrm>
            <a:custGeom>
              <a:avLst/>
              <a:gdLst/>
              <a:ahLst/>
              <a:cxnLst/>
              <a:rect r="r" b="b" t="t" l="l"/>
              <a:pathLst>
                <a:path h="961482" w="1681156">
                  <a:moveTo>
                    <a:pt x="0" y="0"/>
                  </a:moveTo>
                  <a:lnTo>
                    <a:pt x="1681156" y="0"/>
                  </a:lnTo>
                  <a:lnTo>
                    <a:pt x="1681156" y="961482"/>
                  </a:lnTo>
                  <a:lnTo>
                    <a:pt x="0" y="961482"/>
                  </a:lnTo>
                  <a:close/>
                </a:path>
              </a:pathLst>
            </a:custGeom>
            <a:solidFill>
              <a:srgbClr val="FFFFFF"/>
            </a:solidFill>
          </p:spPr>
        </p:sp>
        <p:sp>
          <p:nvSpPr>
            <p:cNvPr name="TextBox 11" id="11"/>
            <p:cNvSpPr txBox="true"/>
            <p:nvPr/>
          </p:nvSpPr>
          <p:spPr>
            <a:xfrm>
              <a:off x="0" y="-28575"/>
              <a:ext cx="1681156" cy="990057"/>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Tree>
  </p:cSld>
  <p:clrMapOvr>
    <a:masterClrMapping/>
  </p:clrMapOvr>
</p:sld>
</file>

<file path=ppt/slides/slide15.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756000" y="679800"/>
            <a:ext cx="6048000" cy="377825"/>
          </a:xfrm>
          <a:prstGeom prst="rect">
            <a:avLst/>
          </a:prstGeom>
        </p:spPr>
        <p:txBody>
          <a:bodyPr anchor="t" rtlCol="false" tIns="0" lIns="0" bIns="0" rIns="0">
            <a:spAutoFit/>
          </a:bodyPr>
          <a:lstStyle/>
          <a:p>
            <a:pPr algn="l">
              <a:lnSpc>
                <a:spcPts val="2800"/>
              </a:lnSpc>
            </a:pPr>
            <a:r>
              <a:rPr lang="en-US" sz="2000">
                <a:solidFill>
                  <a:srgbClr val="1F4894"/>
                </a:solidFill>
                <a:latin typeface="Mortend Bold"/>
                <a:ea typeface="Mortend Bold"/>
                <a:cs typeface="Mortend Bold"/>
                <a:sym typeface="Mortend Bold"/>
              </a:rPr>
              <a:t>technical approach</a:t>
            </a:r>
          </a:p>
        </p:txBody>
      </p:sp>
      <p:sp>
        <p:nvSpPr>
          <p:cNvPr name="TextBox 3" id="3"/>
          <p:cNvSpPr txBox="true"/>
          <p:nvPr/>
        </p:nvSpPr>
        <p:spPr>
          <a:xfrm rot="0">
            <a:off x="756000" y="2791073"/>
            <a:ext cx="5946651" cy="7912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Pertimbangan Keamanan dan Skalabilitas</a:t>
            </a:r>
          </a:p>
          <a:p>
            <a:pPr algn="l">
              <a:lnSpc>
                <a:spcPts val="1540"/>
              </a:lnSpc>
            </a:pPr>
            <a:r>
              <a:rPr lang="en-US" sz="1100">
                <a:solidFill>
                  <a:srgbClr val="0C2A52"/>
                </a:solidFill>
                <a:latin typeface="Oxanium"/>
                <a:ea typeface="Oxanium"/>
                <a:cs typeface="Oxanium"/>
                <a:sym typeface="Oxanium"/>
              </a:rPr>
              <a:t>Uraikan secara singkat bagaimana solusi memperhatikan keamanan data dan potensi pengembangan ke depan.</a:t>
            </a:r>
          </a:p>
          <a:p>
            <a:pPr algn="l">
              <a:lnSpc>
                <a:spcPts val="1260"/>
              </a:lnSpc>
              <a:spcBef>
                <a:spcPct val="0"/>
              </a:spcBef>
            </a:pPr>
            <a:r>
              <a:rPr lang="en-US" sz="900">
                <a:solidFill>
                  <a:srgbClr val="0C2A52"/>
                </a:solidFill>
                <a:latin typeface="Oxanium"/>
                <a:ea typeface="Oxanium"/>
                <a:cs typeface="Oxanium"/>
                <a:sym typeface="Oxanium"/>
              </a:rPr>
              <a:t>(maks. 600 karakter)</a:t>
            </a:r>
          </a:p>
        </p:txBody>
      </p:sp>
      <p:sp>
        <p:nvSpPr>
          <p:cNvPr name="TextBox 4" id="4"/>
          <p:cNvSpPr txBox="true"/>
          <p:nvPr/>
        </p:nvSpPr>
        <p:spPr>
          <a:xfrm rot="0">
            <a:off x="6604025" y="10159188"/>
            <a:ext cx="190401"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12</a:t>
            </a:r>
          </a:p>
        </p:txBody>
      </p:sp>
      <p:grpSp>
        <p:nvGrpSpPr>
          <p:cNvPr name="Group 5" id="5"/>
          <p:cNvGrpSpPr/>
          <p:nvPr/>
        </p:nvGrpSpPr>
        <p:grpSpPr>
          <a:xfrm rot="0">
            <a:off x="756000" y="1312149"/>
            <a:ext cx="6004506" cy="1350899"/>
            <a:chOff x="0" y="0"/>
            <a:chExt cx="1681156" cy="378228"/>
          </a:xfrm>
        </p:grpSpPr>
        <p:sp>
          <p:nvSpPr>
            <p:cNvPr name="Freeform 6" id="6"/>
            <p:cNvSpPr/>
            <p:nvPr/>
          </p:nvSpPr>
          <p:spPr>
            <a:xfrm flipH="false" flipV="false" rot="0">
              <a:off x="0" y="0"/>
              <a:ext cx="1681156" cy="378228"/>
            </a:xfrm>
            <a:custGeom>
              <a:avLst/>
              <a:gdLst/>
              <a:ahLst/>
              <a:cxnLst/>
              <a:rect r="r" b="b" t="t" l="l"/>
              <a:pathLst>
                <a:path h="378228" w="1681156">
                  <a:moveTo>
                    <a:pt x="0" y="0"/>
                  </a:moveTo>
                  <a:lnTo>
                    <a:pt x="1681156" y="0"/>
                  </a:lnTo>
                  <a:lnTo>
                    <a:pt x="1681156" y="378228"/>
                  </a:lnTo>
                  <a:lnTo>
                    <a:pt x="0" y="378228"/>
                  </a:lnTo>
                  <a:close/>
                </a:path>
              </a:pathLst>
            </a:custGeom>
            <a:solidFill>
              <a:srgbClr val="FFFFFF"/>
            </a:solidFill>
          </p:spPr>
        </p:sp>
        <p:sp>
          <p:nvSpPr>
            <p:cNvPr name="TextBox 7" id="7"/>
            <p:cNvSpPr txBox="true"/>
            <p:nvPr/>
          </p:nvSpPr>
          <p:spPr>
            <a:xfrm>
              <a:off x="0" y="-28575"/>
              <a:ext cx="1681156" cy="406803"/>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grpSp>
        <p:nvGrpSpPr>
          <p:cNvPr name="Group 8" id="8"/>
          <p:cNvGrpSpPr/>
          <p:nvPr/>
        </p:nvGrpSpPr>
        <p:grpSpPr>
          <a:xfrm rot="0">
            <a:off x="756000" y="3664959"/>
            <a:ext cx="6004506" cy="3434082"/>
            <a:chOff x="0" y="0"/>
            <a:chExt cx="1681156" cy="961482"/>
          </a:xfrm>
        </p:grpSpPr>
        <p:sp>
          <p:nvSpPr>
            <p:cNvPr name="Freeform 9" id="9"/>
            <p:cNvSpPr/>
            <p:nvPr/>
          </p:nvSpPr>
          <p:spPr>
            <a:xfrm flipH="false" flipV="false" rot="0">
              <a:off x="0" y="0"/>
              <a:ext cx="1681156" cy="961482"/>
            </a:xfrm>
            <a:custGeom>
              <a:avLst/>
              <a:gdLst/>
              <a:ahLst/>
              <a:cxnLst/>
              <a:rect r="r" b="b" t="t" l="l"/>
              <a:pathLst>
                <a:path h="961482" w="1681156">
                  <a:moveTo>
                    <a:pt x="0" y="0"/>
                  </a:moveTo>
                  <a:lnTo>
                    <a:pt x="1681156" y="0"/>
                  </a:lnTo>
                  <a:lnTo>
                    <a:pt x="1681156" y="961482"/>
                  </a:lnTo>
                  <a:lnTo>
                    <a:pt x="0" y="961482"/>
                  </a:lnTo>
                  <a:close/>
                </a:path>
              </a:pathLst>
            </a:custGeom>
            <a:solidFill>
              <a:srgbClr val="FFFFFF"/>
            </a:solidFill>
          </p:spPr>
        </p:sp>
        <p:sp>
          <p:nvSpPr>
            <p:cNvPr name="TextBox 10" id="10"/>
            <p:cNvSpPr txBox="true"/>
            <p:nvPr/>
          </p:nvSpPr>
          <p:spPr>
            <a:xfrm>
              <a:off x="0" y="-28575"/>
              <a:ext cx="1681156" cy="990057"/>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Tree>
  </p:cSld>
  <p:clrMapOvr>
    <a:masterClrMapping/>
  </p:clrMapOvr>
</p:sld>
</file>

<file path=ppt/slides/slide16.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756000" y="679800"/>
            <a:ext cx="6048000" cy="377825"/>
          </a:xfrm>
          <a:prstGeom prst="rect">
            <a:avLst/>
          </a:prstGeom>
        </p:spPr>
        <p:txBody>
          <a:bodyPr anchor="t" rtlCol="false" tIns="0" lIns="0" bIns="0" rIns="0">
            <a:spAutoFit/>
          </a:bodyPr>
          <a:lstStyle/>
          <a:p>
            <a:pPr algn="l">
              <a:lnSpc>
                <a:spcPts val="2800"/>
              </a:lnSpc>
            </a:pPr>
            <a:r>
              <a:rPr lang="en-US" sz="2000">
                <a:solidFill>
                  <a:srgbClr val="1F4894"/>
                </a:solidFill>
                <a:latin typeface="Mortend Bold"/>
                <a:ea typeface="Mortend Bold"/>
                <a:cs typeface="Mortend Bold"/>
                <a:sym typeface="Mortend Bold"/>
              </a:rPr>
              <a:t>implementation feasibility</a:t>
            </a:r>
          </a:p>
        </p:txBody>
      </p:sp>
      <p:sp>
        <p:nvSpPr>
          <p:cNvPr name="TextBox 3" id="3"/>
          <p:cNvSpPr txBox="true"/>
          <p:nvPr/>
        </p:nvSpPr>
        <p:spPr>
          <a:xfrm rot="0">
            <a:off x="756000" y="1254999"/>
            <a:ext cx="5946651" cy="63627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Status Inovasi</a:t>
            </a:r>
          </a:p>
          <a:p>
            <a:pPr algn="l">
              <a:lnSpc>
                <a:spcPts val="1540"/>
              </a:lnSpc>
              <a:spcBef>
                <a:spcPct val="0"/>
              </a:spcBef>
            </a:pPr>
            <a:r>
              <a:rPr lang="en-US" sz="1100">
                <a:solidFill>
                  <a:srgbClr val="0C2A52"/>
                </a:solidFill>
                <a:latin typeface="Oxanium"/>
                <a:ea typeface="Oxanium"/>
                <a:cs typeface="Oxanium"/>
                <a:sym typeface="Oxanium"/>
              </a:rPr>
              <a:t>Inovasi saat ini sedang dalam tahap apa? Misalnya ide / mockup / POC / prototype / pilot project?</a:t>
            </a:r>
          </a:p>
        </p:txBody>
      </p:sp>
      <p:sp>
        <p:nvSpPr>
          <p:cNvPr name="TextBox 4" id="4"/>
          <p:cNvSpPr txBox="true"/>
          <p:nvPr/>
        </p:nvSpPr>
        <p:spPr>
          <a:xfrm rot="0">
            <a:off x="6591424" y="10159188"/>
            <a:ext cx="203002"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13</a:t>
            </a:r>
          </a:p>
        </p:txBody>
      </p:sp>
      <p:grpSp>
        <p:nvGrpSpPr>
          <p:cNvPr name="Group 5" id="5"/>
          <p:cNvGrpSpPr/>
          <p:nvPr/>
        </p:nvGrpSpPr>
        <p:grpSpPr>
          <a:xfrm rot="0">
            <a:off x="756000" y="1963269"/>
            <a:ext cx="6048000" cy="607949"/>
            <a:chOff x="0" y="0"/>
            <a:chExt cx="1693333" cy="170215"/>
          </a:xfrm>
        </p:grpSpPr>
        <p:sp>
          <p:nvSpPr>
            <p:cNvPr name="Freeform 6" id="6"/>
            <p:cNvSpPr/>
            <p:nvPr/>
          </p:nvSpPr>
          <p:spPr>
            <a:xfrm flipH="false" flipV="false" rot="0">
              <a:off x="0" y="0"/>
              <a:ext cx="1693333" cy="170215"/>
            </a:xfrm>
            <a:custGeom>
              <a:avLst/>
              <a:gdLst/>
              <a:ahLst/>
              <a:cxnLst/>
              <a:rect r="r" b="b" t="t" l="l"/>
              <a:pathLst>
                <a:path h="170215" w="1693333">
                  <a:moveTo>
                    <a:pt x="0" y="0"/>
                  </a:moveTo>
                  <a:lnTo>
                    <a:pt x="1693333" y="0"/>
                  </a:lnTo>
                  <a:lnTo>
                    <a:pt x="1693333" y="170215"/>
                  </a:lnTo>
                  <a:lnTo>
                    <a:pt x="0" y="170215"/>
                  </a:lnTo>
                  <a:close/>
                </a:path>
              </a:pathLst>
            </a:custGeom>
            <a:solidFill>
              <a:srgbClr val="FFFFFF"/>
            </a:solidFill>
          </p:spPr>
        </p:sp>
        <p:sp>
          <p:nvSpPr>
            <p:cNvPr name="TextBox 7" id="7"/>
            <p:cNvSpPr txBox="true"/>
            <p:nvPr/>
          </p:nvSpPr>
          <p:spPr>
            <a:xfrm>
              <a:off x="0" y="-28575"/>
              <a:ext cx="1693333" cy="198790"/>
            </a:xfrm>
            <a:prstGeom prst="rect">
              <a:avLst/>
            </a:prstGeom>
          </p:spPr>
          <p:txBody>
            <a:bodyPr anchor="ctr" rtlCol="false" tIns="50800" lIns="50800" bIns="50800" rIns="50800"/>
            <a:lstStyle/>
            <a:p>
              <a:pPr algn="ctr">
                <a:lnSpc>
                  <a:spcPts val="1960"/>
                </a:lnSpc>
              </a:pPr>
            </a:p>
            <a:p>
              <a:pPr algn="ctr">
                <a:lnSpc>
                  <a:spcPts val="1960"/>
                </a:lnSpc>
              </a:pPr>
            </a:p>
          </p:txBody>
        </p:sp>
      </p:grpSp>
      <p:sp>
        <p:nvSpPr>
          <p:cNvPr name="TextBox 8" id="8"/>
          <p:cNvSpPr txBox="true"/>
          <p:nvPr/>
        </p:nvSpPr>
        <p:spPr>
          <a:xfrm rot="0">
            <a:off x="756000" y="2694181"/>
            <a:ext cx="5946651" cy="6007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Apakah Inovasi Realistis untuk Dibagun?</a:t>
            </a:r>
          </a:p>
          <a:p>
            <a:pPr algn="l">
              <a:lnSpc>
                <a:spcPts val="1540"/>
              </a:lnSpc>
            </a:pPr>
            <a:r>
              <a:rPr lang="en-US" sz="1100">
                <a:solidFill>
                  <a:srgbClr val="0C2A52"/>
                </a:solidFill>
                <a:latin typeface="Oxanium"/>
                <a:ea typeface="Oxanium"/>
                <a:cs typeface="Oxanium"/>
                <a:sym typeface="Oxanium"/>
              </a:rPr>
              <a:t>Jelaskan mengapa solusi ini masuk akal untuk direalisasikan oleh tim Anda.</a:t>
            </a:r>
          </a:p>
          <a:p>
            <a:pPr algn="l">
              <a:lnSpc>
                <a:spcPts val="1260"/>
              </a:lnSpc>
              <a:spcBef>
                <a:spcPct val="0"/>
              </a:spcBef>
            </a:pPr>
            <a:r>
              <a:rPr lang="en-US" sz="900">
                <a:solidFill>
                  <a:srgbClr val="0C2A52"/>
                </a:solidFill>
                <a:latin typeface="Oxanium"/>
                <a:ea typeface="Oxanium"/>
                <a:cs typeface="Oxanium"/>
                <a:sym typeface="Oxanium"/>
              </a:rPr>
              <a:t>(maks. 700 karakter)</a:t>
            </a:r>
          </a:p>
        </p:txBody>
      </p:sp>
      <p:grpSp>
        <p:nvGrpSpPr>
          <p:cNvPr name="Group 9" id="9"/>
          <p:cNvGrpSpPr/>
          <p:nvPr/>
        </p:nvGrpSpPr>
        <p:grpSpPr>
          <a:xfrm rot="0">
            <a:off x="756000" y="3371091"/>
            <a:ext cx="6048000" cy="3579749"/>
            <a:chOff x="0" y="0"/>
            <a:chExt cx="1693333" cy="1002267"/>
          </a:xfrm>
        </p:grpSpPr>
        <p:sp>
          <p:nvSpPr>
            <p:cNvPr name="Freeform 10" id="10"/>
            <p:cNvSpPr/>
            <p:nvPr/>
          </p:nvSpPr>
          <p:spPr>
            <a:xfrm flipH="false" flipV="false" rot="0">
              <a:off x="0" y="0"/>
              <a:ext cx="1693333" cy="1002267"/>
            </a:xfrm>
            <a:custGeom>
              <a:avLst/>
              <a:gdLst/>
              <a:ahLst/>
              <a:cxnLst/>
              <a:rect r="r" b="b" t="t" l="l"/>
              <a:pathLst>
                <a:path h="1002267" w="1693333">
                  <a:moveTo>
                    <a:pt x="0" y="0"/>
                  </a:moveTo>
                  <a:lnTo>
                    <a:pt x="1693333" y="0"/>
                  </a:lnTo>
                  <a:lnTo>
                    <a:pt x="1693333" y="1002267"/>
                  </a:lnTo>
                  <a:lnTo>
                    <a:pt x="0" y="1002267"/>
                  </a:lnTo>
                  <a:close/>
                </a:path>
              </a:pathLst>
            </a:custGeom>
            <a:solidFill>
              <a:srgbClr val="FFFFFF"/>
            </a:solidFill>
          </p:spPr>
        </p:sp>
        <p:sp>
          <p:nvSpPr>
            <p:cNvPr name="TextBox 11" id="11"/>
            <p:cNvSpPr txBox="true"/>
            <p:nvPr/>
          </p:nvSpPr>
          <p:spPr>
            <a:xfrm>
              <a:off x="0" y="-28575"/>
              <a:ext cx="1693333" cy="1030842"/>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
        <p:nvSpPr>
          <p:cNvPr name="TextBox 12" id="12"/>
          <p:cNvSpPr txBox="true"/>
          <p:nvPr/>
        </p:nvSpPr>
        <p:spPr>
          <a:xfrm rot="0">
            <a:off x="756000" y="7074665"/>
            <a:ext cx="5946651" cy="6007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Tahapan Pengembangan</a:t>
            </a:r>
          </a:p>
          <a:p>
            <a:pPr algn="l">
              <a:lnSpc>
                <a:spcPts val="1540"/>
              </a:lnSpc>
            </a:pPr>
            <a:r>
              <a:rPr lang="en-US" sz="1100">
                <a:solidFill>
                  <a:srgbClr val="0C2A52"/>
                </a:solidFill>
                <a:latin typeface="Oxanium"/>
                <a:ea typeface="Oxanium"/>
                <a:cs typeface="Oxanium"/>
                <a:sym typeface="Oxanium"/>
              </a:rPr>
              <a:t>Uraikan rencana tahapan implementasi dari awal hingga MVP atau pilot.</a:t>
            </a:r>
          </a:p>
          <a:p>
            <a:pPr algn="l">
              <a:lnSpc>
                <a:spcPts val="1260"/>
              </a:lnSpc>
              <a:spcBef>
                <a:spcPct val="0"/>
              </a:spcBef>
            </a:pPr>
            <a:r>
              <a:rPr lang="en-US" sz="900">
                <a:solidFill>
                  <a:srgbClr val="0C2A52"/>
                </a:solidFill>
                <a:latin typeface="Oxanium"/>
                <a:ea typeface="Oxanium"/>
                <a:cs typeface="Oxanium"/>
                <a:sym typeface="Oxanium"/>
              </a:rPr>
              <a:t>(maks. 900 karakter)</a:t>
            </a:r>
          </a:p>
        </p:txBody>
      </p:sp>
      <p:grpSp>
        <p:nvGrpSpPr>
          <p:cNvPr name="Group 13" id="13"/>
          <p:cNvGrpSpPr/>
          <p:nvPr/>
        </p:nvGrpSpPr>
        <p:grpSpPr>
          <a:xfrm rot="0">
            <a:off x="756000" y="7751575"/>
            <a:ext cx="6048000" cy="2184425"/>
            <a:chOff x="0" y="0"/>
            <a:chExt cx="1693333" cy="611601"/>
          </a:xfrm>
        </p:grpSpPr>
        <p:sp>
          <p:nvSpPr>
            <p:cNvPr name="Freeform 14" id="14"/>
            <p:cNvSpPr/>
            <p:nvPr/>
          </p:nvSpPr>
          <p:spPr>
            <a:xfrm flipH="false" flipV="false" rot="0">
              <a:off x="0" y="0"/>
              <a:ext cx="1693333" cy="611601"/>
            </a:xfrm>
            <a:custGeom>
              <a:avLst/>
              <a:gdLst/>
              <a:ahLst/>
              <a:cxnLst/>
              <a:rect r="r" b="b" t="t" l="l"/>
              <a:pathLst>
                <a:path h="611601" w="1693333">
                  <a:moveTo>
                    <a:pt x="0" y="0"/>
                  </a:moveTo>
                  <a:lnTo>
                    <a:pt x="1693333" y="0"/>
                  </a:lnTo>
                  <a:lnTo>
                    <a:pt x="1693333" y="611601"/>
                  </a:lnTo>
                  <a:lnTo>
                    <a:pt x="0" y="611601"/>
                  </a:lnTo>
                  <a:close/>
                </a:path>
              </a:pathLst>
            </a:custGeom>
            <a:solidFill>
              <a:srgbClr val="FFFFFF"/>
            </a:solidFill>
          </p:spPr>
        </p:sp>
        <p:sp>
          <p:nvSpPr>
            <p:cNvPr name="TextBox 15" id="15"/>
            <p:cNvSpPr txBox="true"/>
            <p:nvPr/>
          </p:nvSpPr>
          <p:spPr>
            <a:xfrm>
              <a:off x="0" y="-28575"/>
              <a:ext cx="1693333" cy="640176"/>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Tree>
  </p:cSld>
  <p:clrMapOvr>
    <a:masterClrMapping/>
  </p:clrMapOvr>
</p:sld>
</file>

<file path=ppt/slides/slide17.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756000" y="679800"/>
            <a:ext cx="6048000" cy="377825"/>
          </a:xfrm>
          <a:prstGeom prst="rect">
            <a:avLst/>
          </a:prstGeom>
        </p:spPr>
        <p:txBody>
          <a:bodyPr anchor="t" rtlCol="false" tIns="0" lIns="0" bIns="0" rIns="0">
            <a:spAutoFit/>
          </a:bodyPr>
          <a:lstStyle/>
          <a:p>
            <a:pPr algn="l">
              <a:lnSpc>
                <a:spcPts val="2800"/>
              </a:lnSpc>
            </a:pPr>
            <a:r>
              <a:rPr lang="en-US" sz="2000">
                <a:solidFill>
                  <a:srgbClr val="1F4894"/>
                </a:solidFill>
                <a:latin typeface="Mortend Bold"/>
                <a:ea typeface="Mortend Bold"/>
                <a:cs typeface="Mortend Bold"/>
                <a:sym typeface="Mortend Bold"/>
              </a:rPr>
              <a:t>implementation feasibility</a:t>
            </a:r>
          </a:p>
        </p:txBody>
      </p:sp>
      <p:sp>
        <p:nvSpPr>
          <p:cNvPr name="TextBox 3" id="3"/>
          <p:cNvSpPr txBox="true"/>
          <p:nvPr/>
        </p:nvSpPr>
        <p:spPr>
          <a:xfrm rot="0">
            <a:off x="756000" y="4024148"/>
            <a:ext cx="6038425" cy="791210"/>
          </a:xfrm>
          <a:prstGeom prst="rect">
            <a:avLst/>
          </a:prstGeom>
        </p:spPr>
        <p:txBody>
          <a:bodyPr anchor="t" rtlCol="false" tIns="0" lIns="0" bIns="0" rIns="0">
            <a:spAutoFit/>
          </a:bodyPr>
          <a:lstStyle/>
          <a:p>
            <a:pPr algn="l">
              <a:lnSpc>
                <a:spcPts val="1820"/>
              </a:lnSpc>
            </a:pPr>
            <a:r>
              <a:rPr lang="en-US" sz="1300">
                <a:solidFill>
                  <a:srgbClr val="0C2A52"/>
                </a:solidFill>
                <a:latin typeface="Oxanium"/>
                <a:ea typeface="Oxanium"/>
                <a:cs typeface="Oxanium"/>
                <a:sym typeface="Oxanium"/>
              </a:rPr>
              <a:t>Bisnis Model dan Keberlanjutan</a:t>
            </a:r>
          </a:p>
          <a:p>
            <a:pPr algn="l">
              <a:lnSpc>
                <a:spcPts val="1540"/>
              </a:lnSpc>
            </a:pPr>
            <a:r>
              <a:rPr lang="en-US" sz="1100">
                <a:solidFill>
                  <a:srgbClr val="0C2A52"/>
                </a:solidFill>
                <a:latin typeface="Oxanium"/>
                <a:ea typeface="Oxanium"/>
                <a:cs typeface="Oxanium"/>
                <a:sym typeface="Oxanium"/>
              </a:rPr>
              <a:t>Gambarkan bisnis model dari solusi Anda dalam bentuk business model canvas, serta jelaskan lebih detail.</a:t>
            </a:r>
          </a:p>
          <a:p>
            <a:pPr algn="l">
              <a:lnSpc>
                <a:spcPts val="1260"/>
              </a:lnSpc>
              <a:spcBef>
                <a:spcPct val="0"/>
              </a:spcBef>
            </a:pPr>
            <a:r>
              <a:rPr lang="en-US" sz="900">
                <a:solidFill>
                  <a:srgbClr val="0C2A52"/>
                </a:solidFill>
                <a:latin typeface="Oxanium"/>
                <a:ea typeface="Oxanium"/>
                <a:cs typeface="Oxanium"/>
                <a:sym typeface="Oxanium"/>
              </a:rPr>
              <a:t>(maks. 1000 karakter)</a:t>
            </a:r>
          </a:p>
        </p:txBody>
      </p:sp>
      <p:sp>
        <p:nvSpPr>
          <p:cNvPr name="TextBox 4" id="4"/>
          <p:cNvSpPr txBox="true"/>
          <p:nvPr/>
        </p:nvSpPr>
        <p:spPr>
          <a:xfrm rot="0">
            <a:off x="6593706" y="10159188"/>
            <a:ext cx="200720"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14</a:t>
            </a:r>
          </a:p>
        </p:txBody>
      </p:sp>
      <p:grpSp>
        <p:nvGrpSpPr>
          <p:cNvPr name="Group 5" id="5"/>
          <p:cNvGrpSpPr/>
          <p:nvPr/>
        </p:nvGrpSpPr>
        <p:grpSpPr>
          <a:xfrm rot="0">
            <a:off x="756000" y="1312149"/>
            <a:ext cx="6048000" cy="2589149"/>
            <a:chOff x="0" y="0"/>
            <a:chExt cx="1693333" cy="724916"/>
          </a:xfrm>
        </p:grpSpPr>
        <p:sp>
          <p:nvSpPr>
            <p:cNvPr name="Freeform 6" id="6"/>
            <p:cNvSpPr/>
            <p:nvPr/>
          </p:nvSpPr>
          <p:spPr>
            <a:xfrm flipH="false" flipV="false" rot="0">
              <a:off x="0" y="0"/>
              <a:ext cx="1693333" cy="724916"/>
            </a:xfrm>
            <a:custGeom>
              <a:avLst/>
              <a:gdLst/>
              <a:ahLst/>
              <a:cxnLst/>
              <a:rect r="r" b="b" t="t" l="l"/>
              <a:pathLst>
                <a:path h="724916" w="1693333">
                  <a:moveTo>
                    <a:pt x="0" y="0"/>
                  </a:moveTo>
                  <a:lnTo>
                    <a:pt x="1693333" y="0"/>
                  </a:lnTo>
                  <a:lnTo>
                    <a:pt x="1693333" y="724916"/>
                  </a:lnTo>
                  <a:lnTo>
                    <a:pt x="0" y="724916"/>
                  </a:lnTo>
                  <a:close/>
                </a:path>
              </a:pathLst>
            </a:custGeom>
            <a:solidFill>
              <a:srgbClr val="FFFFFF"/>
            </a:solidFill>
          </p:spPr>
        </p:sp>
        <p:sp>
          <p:nvSpPr>
            <p:cNvPr name="TextBox 7" id="7"/>
            <p:cNvSpPr txBox="true"/>
            <p:nvPr/>
          </p:nvSpPr>
          <p:spPr>
            <a:xfrm>
              <a:off x="0" y="-28575"/>
              <a:ext cx="1693333" cy="753491"/>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grpSp>
        <p:nvGrpSpPr>
          <p:cNvPr name="Group 8" id="8"/>
          <p:cNvGrpSpPr/>
          <p:nvPr/>
        </p:nvGrpSpPr>
        <p:grpSpPr>
          <a:xfrm rot="0">
            <a:off x="756000" y="4896407"/>
            <a:ext cx="6048000" cy="5039593"/>
            <a:chOff x="0" y="0"/>
            <a:chExt cx="1693333" cy="1410997"/>
          </a:xfrm>
        </p:grpSpPr>
        <p:sp>
          <p:nvSpPr>
            <p:cNvPr name="Freeform 9" id="9"/>
            <p:cNvSpPr/>
            <p:nvPr/>
          </p:nvSpPr>
          <p:spPr>
            <a:xfrm flipH="false" flipV="false" rot="0">
              <a:off x="0" y="0"/>
              <a:ext cx="1693333" cy="1410997"/>
            </a:xfrm>
            <a:custGeom>
              <a:avLst/>
              <a:gdLst/>
              <a:ahLst/>
              <a:cxnLst/>
              <a:rect r="r" b="b" t="t" l="l"/>
              <a:pathLst>
                <a:path h="1410997" w="1693333">
                  <a:moveTo>
                    <a:pt x="0" y="0"/>
                  </a:moveTo>
                  <a:lnTo>
                    <a:pt x="1693333" y="0"/>
                  </a:lnTo>
                  <a:lnTo>
                    <a:pt x="1693333" y="1410997"/>
                  </a:lnTo>
                  <a:lnTo>
                    <a:pt x="0" y="1410997"/>
                  </a:lnTo>
                  <a:close/>
                </a:path>
              </a:pathLst>
            </a:custGeom>
            <a:solidFill>
              <a:srgbClr val="FFFFFF"/>
            </a:solidFill>
          </p:spPr>
        </p:sp>
        <p:sp>
          <p:nvSpPr>
            <p:cNvPr name="TextBox 10" id="10"/>
            <p:cNvSpPr txBox="true"/>
            <p:nvPr/>
          </p:nvSpPr>
          <p:spPr>
            <a:xfrm>
              <a:off x="0" y="-28575"/>
              <a:ext cx="1693333" cy="1439572"/>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Tree>
  </p:cSld>
  <p:clrMapOvr>
    <a:masterClrMapping/>
  </p:clrMapOvr>
</p:sld>
</file>

<file path=ppt/slides/slide18.xml><?xml version="1.0" encoding="utf-8"?>
<p:sld xmlns:p="http://schemas.openxmlformats.org/presentationml/2006/main" xmlns:a="http://schemas.openxmlformats.org/drawingml/2006/main">
  <p:cSld>
    <p:bg>
      <p:bgPr>
        <a:gradFill rotWithShape="true">
          <a:gsLst>
            <a:gs pos="0">
              <a:srgbClr val="E6EBF4">
                <a:alpha val="50000"/>
              </a:srgbClr>
            </a:gs>
            <a:gs pos="100000">
              <a:srgbClr val="3EA2E0">
                <a:alpha val="5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756000" y="679800"/>
            <a:ext cx="6048000" cy="377825"/>
          </a:xfrm>
          <a:prstGeom prst="rect">
            <a:avLst/>
          </a:prstGeom>
        </p:spPr>
        <p:txBody>
          <a:bodyPr anchor="t" rtlCol="false" tIns="0" lIns="0" bIns="0" rIns="0">
            <a:spAutoFit/>
          </a:bodyPr>
          <a:lstStyle/>
          <a:p>
            <a:pPr algn="l">
              <a:lnSpc>
                <a:spcPts val="2800"/>
              </a:lnSpc>
            </a:pPr>
            <a:r>
              <a:rPr lang="en-US" sz="2000">
                <a:solidFill>
                  <a:srgbClr val="1F4894"/>
                </a:solidFill>
                <a:latin typeface="Mortend Bold"/>
                <a:ea typeface="Mortend Bold"/>
                <a:cs typeface="Mortend Bold"/>
                <a:sym typeface="Mortend Bold"/>
              </a:rPr>
              <a:t>attachment &amp; reference</a:t>
            </a:r>
          </a:p>
        </p:txBody>
      </p:sp>
      <p:sp>
        <p:nvSpPr>
          <p:cNvPr name="TextBox 3" id="3"/>
          <p:cNvSpPr txBox="true"/>
          <p:nvPr/>
        </p:nvSpPr>
        <p:spPr>
          <a:xfrm rot="0">
            <a:off x="756000" y="1163737"/>
            <a:ext cx="6038425" cy="938530"/>
          </a:xfrm>
          <a:prstGeom prst="rect">
            <a:avLst/>
          </a:prstGeom>
        </p:spPr>
        <p:txBody>
          <a:bodyPr anchor="t" rtlCol="false" tIns="0" lIns="0" bIns="0" rIns="0">
            <a:spAutoFit/>
          </a:bodyPr>
          <a:lstStyle/>
          <a:p>
            <a:pPr algn="l" marL="280671" indent="-140336" lvl="1">
              <a:lnSpc>
                <a:spcPts val="1820"/>
              </a:lnSpc>
              <a:buFont typeface="Arial"/>
              <a:buChar char="•"/>
            </a:pPr>
            <a:r>
              <a:rPr lang="en-US" sz="1300">
                <a:solidFill>
                  <a:srgbClr val="0C2A52"/>
                </a:solidFill>
                <a:latin typeface="Oxanium"/>
                <a:ea typeface="Oxanium"/>
                <a:cs typeface="Oxanium"/>
                <a:sym typeface="Oxanium"/>
              </a:rPr>
              <a:t>Lampirkan capturing mockup / POC / prototype / pilot project yang relevan dengan proyek Anda berupa screenshoot jika ada (tidak mandatory).</a:t>
            </a:r>
          </a:p>
          <a:p>
            <a:pPr algn="l" marL="280671" indent="-140336" lvl="1">
              <a:lnSpc>
                <a:spcPts val="1820"/>
              </a:lnSpc>
              <a:buFont typeface="Arial"/>
              <a:buChar char="•"/>
            </a:pPr>
            <a:r>
              <a:rPr lang="en-US" sz="1300">
                <a:solidFill>
                  <a:srgbClr val="0C2A52"/>
                </a:solidFill>
                <a:latin typeface="Oxanium"/>
                <a:ea typeface="Oxanium"/>
                <a:cs typeface="Oxanium"/>
                <a:sym typeface="Oxanium"/>
              </a:rPr>
              <a:t>Lampirkan hal-hal yang belum Anda jelaskan dalam uraian di atas.</a:t>
            </a:r>
          </a:p>
          <a:p>
            <a:pPr algn="l" marL="280671" indent="-140336" lvl="1">
              <a:lnSpc>
                <a:spcPts val="1820"/>
              </a:lnSpc>
              <a:spcBef>
                <a:spcPct val="0"/>
              </a:spcBef>
              <a:buFont typeface="Arial"/>
              <a:buChar char="•"/>
            </a:pPr>
            <a:r>
              <a:rPr lang="en-US" sz="1300">
                <a:solidFill>
                  <a:srgbClr val="0C2A52"/>
                </a:solidFill>
                <a:latin typeface="Oxanium"/>
                <a:ea typeface="Oxanium"/>
                <a:cs typeface="Oxanium"/>
                <a:sym typeface="Oxanium"/>
              </a:rPr>
              <a:t>Berikan referensi dari sumber-sumber yang Anda kutip.</a:t>
            </a:r>
          </a:p>
        </p:txBody>
      </p:sp>
      <p:sp>
        <p:nvSpPr>
          <p:cNvPr name="TextBox 4" id="4"/>
          <p:cNvSpPr txBox="true"/>
          <p:nvPr/>
        </p:nvSpPr>
        <p:spPr>
          <a:xfrm rot="0">
            <a:off x="6588150" y="10159188"/>
            <a:ext cx="206276" cy="207645"/>
          </a:xfrm>
          <a:prstGeom prst="rect">
            <a:avLst/>
          </a:prstGeom>
        </p:spPr>
        <p:txBody>
          <a:bodyPr anchor="t" rtlCol="false" tIns="0" lIns="0" bIns="0" rIns="0">
            <a:spAutoFit/>
          </a:bodyPr>
          <a:lstStyle/>
          <a:p>
            <a:pPr algn="r">
              <a:lnSpc>
                <a:spcPts val="1679"/>
              </a:lnSpc>
            </a:pPr>
            <a:r>
              <a:rPr lang="en-US" sz="1200">
                <a:solidFill>
                  <a:srgbClr val="1F4894"/>
                </a:solidFill>
                <a:latin typeface="Mortend Bold"/>
                <a:ea typeface="Mortend Bold"/>
                <a:cs typeface="Mortend Bold"/>
                <a:sym typeface="Mortend Bold"/>
              </a:rPr>
              <a:t>15</a:t>
            </a:r>
          </a:p>
        </p:txBody>
      </p:sp>
      <p:grpSp>
        <p:nvGrpSpPr>
          <p:cNvPr name="Group 5" id="5"/>
          <p:cNvGrpSpPr/>
          <p:nvPr/>
        </p:nvGrpSpPr>
        <p:grpSpPr>
          <a:xfrm rot="0">
            <a:off x="756000" y="2228148"/>
            <a:ext cx="6048000" cy="7707852"/>
            <a:chOff x="0" y="0"/>
            <a:chExt cx="1693333" cy="2158062"/>
          </a:xfrm>
        </p:grpSpPr>
        <p:sp>
          <p:nvSpPr>
            <p:cNvPr name="Freeform 6" id="6"/>
            <p:cNvSpPr/>
            <p:nvPr/>
          </p:nvSpPr>
          <p:spPr>
            <a:xfrm flipH="false" flipV="false" rot="0">
              <a:off x="0" y="0"/>
              <a:ext cx="1693333" cy="2158062"/>
            </a:xfrm>
            <a:custGeom>
              <a:avLst/>
              <a:gdLst/>
              <a:ahLst/>
              <a:cxnLst/>
              <a:rect r="r" b="b" t="t" l="l"/>
              <a:pathLst>
                <a:path h="2158062" w="1693333">
                  <a:moveTo>
                    <a:pt x="0" y="0"/>
                  </a:moveTo>
                  <a:lnTo>
                    <a:pt x="1693333" y="0"/>
                  </a:lnTo>
                  <a:lnTo>
                    <a:pt x="1693333" y="2158062"/>
                  </a:lnTo>
                  <a:lnTo>
                    <a:pt x="0" y="2158062"/>
                  </a:lnTo>
                  <a:close/>
                </a:path>
              </a:pathLst>
            </a:custGeom>
            <a:solidFill>
              <a:srgbClr val="FFFFFF"/>
            </a:solidFill>
          </p:spPr>
        </p:sp>
        <p:sp>
          <p:nvSpPr>
            <p:cNvPr name="TextBox 7" id="7"/>
            <p:cNvSpPr txBox="true"/>
            <p:nvPr/>
          </p:nvSpPr>
          <p:spPr>
            <a:xfrm>
              <a:off x="0" y="-28575"/>
              <a:ext cx="1693333" cy="2186637"/>
            </a:xfrm>
            <a:prstGeom prst="rect">
              <a:avLst/>
            </a:prstGeom>
          </p:spPr>
          <p:txBody>
            <a:bodyPr anchor="ctr" rtlCol="false" tIns="50800" lIns="50800" bIns="50800" rIns="50800"/>
            <a:lstStyle/>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a:p>
              <a:pPr algn="ctr">
                <a:lnSpc>
                  <a:spcPts val="1960"/>
                </a:lnSpc>
              </a:pP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1511" t="-4099" r="-1511" b="-4099"/>
            </a:stretch>
          </a:blipFill>
        </p:spPr>
      </p:sp>
      <p:grpSp>
        <p:nvGrpSpPr>
          <p:cNvPr name="Group 3" id="3"/>
          <p:cNvGrpSpPr/>
          <p:nvPr/>
        </p:nvGrpSpPr>
        <p:grpSpPr>
          <a:xfrm rot="0">
            <a:off x="1222613" y="4693338"/>
            <a:ext cx="5114773" cy="652662"/>
            <a:chOff x="0" y="0"/>
            <a:chExt cx="6819698" cy="870217"/>
          </a:xfrm>
        </p:grpSpPr>
        <p:sp>
          <p:nvSpPr>
            <p:cNvPr name="Freeform 4" id="4"/>
            <p:cNvSpPr/>
            <p:nvPr/>
          </p:nvSpPr>
          <p:spPr>
            <a:xfrm flipH="false" flipV="false" rot="0">
              <a:off x="3255378" y="0"/>
              <a:ext cx="601698" cy="870217"/>
            </a:xfrm>
            <a:custGeom>
              <a:avLst/>
              <a:gdLst/>
              <a:ahLst/>
              <a:cxnLst/>
              <a:rect r="r" b="b" t="t" l="l"/>
              <a:pathLst>
                <a:path h="870217" w="601698">
                  <a:moveTo>
                    <a:pt x="0" y="0"/>
                  </a:moveTo>
                  <a:lnTo>
                    <a:pt x="601698" y="0"/>
                  </a:lnTo>
                  <a:lnTo>
                    <a:pt x="601698" y="870217"/>
                  </a:lnTo>
                  <a:lnTo>
                    <a:pt x="0" y="870217"/>
                  </a:lnTo>
                  <a:lnTo>
                    <a:pt x="0" y="0"/>
                  </a:lnTo>
                  <a:close/>
                </a:path>
              </a:pathLst>
            </a:custGeom>
            <a:blipFill>
              <a:blip r:embed="rId3"/>
              <a:stretch>
                <a:fillRect l="-611018" t="0" r="-592956" b="0"/>
              </a:stretch>
            </a:blipFill>
          </p:spPr>
        </p:sp>
        <p:sp>
          <p:nvSpPr>
            <p:cNvPr name="Freeform 5" id="5"/>
            <p:cNvSpPr/>
            <p:nvPr/>
          </p:nvSpPr>
          <p:spPr>
            <a:xfrm flipH="false" flipV="false" rot="0">
              <a:off x="3975127" y="84686"/>
              <a:ext cx="2844570" cy="700844"/>
            </a:xfrm>
            <a:custGeom>
              <a:avLst/>
              <a:gdLst/>
              <a:ahLst/>
              <a:cxnLst/>
              <a:rect r="r" b="b" t="t" l="l"/>
              <a:pathLst>
                <a:path h="700844" w="2844570">
                  <a:moveTo>
                    <a:pt x="0" y="0"/>
                  </a:moveTo>
                  <a:lnTo>
                    <a:pt x="2844571" y="0"/>
                  </a:lnTo>
                  <a:lnTo>
                    <a:pt x="2844571" y="700844"/>
                  </a:lnTo>
                  <a:lnTo>
                    <a:pt x="0" y="700844"/>
                  </a:lnTo>
                  <a:lnTo>
                    <a:pt x="0" y="0"/>
                  </a:lnTo>
                  <a:close/>
                </a:path>
              </a:pathLst>
            </a:custGeom>
            <a:blipFill>
              <a:blip r:embed="rId3"/>
              <a:stretch>
                <a:fillRect l="0" t="0" r="-122138" b="0"/>
              </a:stretch>
            </a:blipFill>
          </p:spPr>
        </p:sp>
        <p:sp>
          <p:nvSpPr>
            <p:cNvPr name="Freeform 6" id="6"/>
            <p:cNvSpPr/>
            <p:nvPr/>
          </p:nvSpPr>
          <p:spPr>
            <a:xfrm flipH="false" flipV="false" rot="0">
              <a:off x="0" y="0"/>
              <a:ext cx="3135922" cy="812019"/>
            </a:xfrm>
            <a:custGeom>
              <a:avLst/>
              <a:gdLst/>
              <a:ahLst/>
              <a:cxnLst/>
              <a:rect r="r" b="b" t="t" l="l"/>
              <a:pathLst>
                <a:path h="812019" w="3135922">
                  <a:moveTo>
                    <a:pt x="0" y="0"/>
                  </a:moveTo>
                  <a:lnTo>
                    <a:pt x="3135922" y="0"/>
                  </a:lnTo>
                  <a:lnTo>
                    <a:pt x="3135922" y="812019"/>
                  </a:lnTo>
                  <a:lnTo>
                    <a:pt x="0" y="812019"/>
                  </a:lnTo>
                  <a:lnTo>
                    <a:pt x="0" y="0"/>
                  </a:lnTo>
                  <a:close/>
                </a:path>
              </a:pathLst>
            </a:custGeom>
            <a:blipFill>
              <a:blip r:embed="rId3"/>
              <a:stretch>
                <a:fillRect l="-132337" t="0" r="-1127" b="0"/>
              </a:stretch>
            </a:blipFill>
          </p:spPr>
        </p:sp>
      </p:grpSp>
      <p:sp>
        <p:nvSpPr>
          <p:cNvPr name="TextBox 7" id="7"/>
          <p:cNvSpPr txBox="true"/>
          <p:nvPr/>
        </p:nvSpPr>
        <p:spPr>
          <a:xfrm rot="0">
            <a:off x="1098134" y="5555342"/>
            <a:ext cx="5341220" cy="419100"/>
          </a:xfrm>
          <a:prstGeom prst="rect">
            <a:avLst/>
          </a:prstGeom>
        </p:spPr>
        <p:txBody>
          <a:bodyPr anchor="t" rtlCol="false" tIns="0" lIns="0" bIns="0" rIns="0">
            <a:spAutoFit/>
          </a:bodyPr>
          <a:lstStyle/>
          <a:p>
            <a:pPr algn="ctr">
              <a:lnSpc>
                <a:spcPts val="1500"/>
              </a:lnSpc>
            </a:pPr>
            <a:r>
              <a:rPr lang="en-US" sz="1500">
                <a:solidFill>
                  <a:srgbClr val="E6EBF4"/>
                </a:solidFill>
                <a:latin typeface="Mortend Bold"/>
                <a:ea typeface="Mortend Bold"/>
                <a:cs typeface="Mortend Bold"/>
                <a:sym typeface="Mortend Bold"/>
              </a:rPr>
              <a:t>berinovasi untuk masa depan,</a:t>
            </a:r>
          </a:p>
          <a:p>
            <a:pPr algn="ctr">
              <a:lnSpc>
                <a:spcPts val="1500"/>
              </a:lnSpc>
            </a:pPr>
            <a:r>
              <a:rPr lang="en-US" sz="1500">
                <a:solidFill>
                  <a:srgbClr val="E6EBF4"/>
                </a:solidFill>
                <a:latin typeface="Mortend Bold"/>
                <a:ea typeface="Mortend Bold"/>
                <a:cs typeface="Mortend Bold"/>
                <a:sym typeface="Mortend Bold"/>
              </a:rPr>
              <a:t>memberdayakan talenta digital</a:t>
            </a:r>
          </a:p>
        </p:txBody>
      </p:sp>
      <p:sp>
        <p:nvSpPr>
          <p:cNvPr name="Freeform 8" id="8"/>
          <p:cNvSpPr/>
          <p:nvPr/>
        </p:nvSpPr>
        <p:spPr>
          <a:xfrm flipH="false" flipV="false" rot="0">
            <a:off x="1099298" y="756000"/>
            <a:ext cx="1197187" cy="225833"/>
          </a:xfrm>
          <a:custGeom>
            <a:avLst/>
            <a:gdLst/>
            <a:ahLst/>
            <a:cxnLst/>
            <a:rect r="r" b="b" t="t" l="l"/>
            <a:pathLst>
              <a:path h="225833" w="1197187">
                <a:moveTo>
                  <a:pt x="0" y="0"/>
                </a:moveTo>
                <a:lnTo>
                  <a:pt x="1197187" y="0"/>
                </a:lnTo>
                <a:lnTo>
                  <a:pt x="1197187" y="225833"/>
                </a:lnTo>
                <a:lnTo>
                  <a:pt x="0" y="225833"/>
                </a:lnTo>
                <a:lnTo>
                  <a:pt x="0" y="0"/>
                </a:lnTo>
                <a:close/>
              </a:path>
            </a:pathLst>
          </a:custGeom>
          <a:blipFill>
            <a:blip r:embed="rId4"/>
            <a:stretch>
              <a:fillRect l="0" t="0" r="0" b="0"/>
            </a:stretch>
          </a:blipFill>
        </p:spPr>
      </p:sp>
      <p:sp>
        <p:nvSpPr>
          <p:cNvPr name="Freeform 9" id="9"/>
          <p:cNvSpPr/>
          <p:nvPr/>
        </p:nvSpPr>
        <p:spPr>
          <a:xfrm flipH="false" flipV="false" rot="0">
            <a:off x="2548199" y="756000"/>
            <a:ext cx="519156" cy="225833"/>
          </a:xfrm>
          <a:custGeom>
            <a:avLst/>
            <a:gdLst/>
            <a:ahLst/>
            <a:cxnLst/>
            <a:rect r="r" b="b" t="t" l="l"/>
            <a:pathLst>
              <a:path h="225833" w="519156">
                <a:moveTo>
                  <a:pt x="0" y="0"/>
                </a:moveTo>
                <a:lnTo>
                  <a:pt x="519156" y="0"/>
                </a:lnTo>
                <a:lnTo>
                  <a:pt x="519156" y="225833"/>
                </a:lnTo>
                <a:lnTo>
                  <a:pt x="0" y="225833"/>
                </a:lnTo>
                <a:lnTo>
                  <a:pt x="0" y="0"/>
                </a:lnTo>
                <a:close/>
              </a:path>
            </a:pathLst>
          </a:custGeom>
          <a:blipFill>
            <a:blip r:embed="rId5"/>
            <a:stretch>
              <a:fillRect l="0" t="0" r="0" b="0"/>
            </a:stretch>
          </a:blipFill>
        </p:spPr>
      </p:sp>
      <p:sp>
        <p:nvSpPr>
          <p:cNvPr name="Freeform 10" id="10"/>
          <p:cNvSpPr/>
          <p:nvPr/>
        </p:nvSpPr>
        <p:spPr>
          <a:xfrm flipH="false" flipV="false" rot="0">
            <a:off x="3315005" y="756000"/>
            <a:ext cx="728085" cy="225833"/>
          </a:xfrm>
          <a:custGeom>
            <a:avLst/>
            <a:gdLst/>
            <a:ahLst/>
            <a:cxnLst/>
            <a:rect r="r" b="b" t="t" l="l"/>
            <a:pathLst>
              <a:path h="225833" w="728085">
                <a:moveTo>
                  <a:pt x="0" y="0"/>
                </a:moveTo>
                <a:lnTo>
                  <a:pt x="728086" y="0"/>
                </a:lnTo>
                <a:lnTo>
                  <a:pt x="728086" y="225833"/>
                </a:lnTo>
                <a:lnTo>
                  <a:pt x="0" y="225833"/>
                </a:lnTo>
                <a:lnTo>
                  <a:pt x="0" y="0"/>
                </a:lnTo>
                <a:close/>
              </a:path>
            </a:pathLst>
          </a:custGeom>
          <a:blipFill>
            <a:blip r:embed="rId6"/>
            <a:stretch>
              <a:fillRect l="0" t="0" r="0" b="0"/>
            </a:stretch>
          </a:blipFill>
        </p:spPr>
      </p:sp>
      <p:sp>
        <p:nvSpPr>
          <p:cNvPr name="Freeform 11" id="11"/>
          <p:cNvSpPr/>
          <p:nvPr/>
        </p:nvSpPr>
        <p:spPr>
          <a:xfrm flipH="false" flipV="false" rot="0">
            <a:off x="4290741" y="756000"/>
            <a:ext cx="422447" cy="225833"/>
          </a:xfrm>
          <a:custGeom>
            <a:avLst/>
            <a:gdLst/>
            <a:ahLst/>
            <a:cxnLst/>
            <a:rect r="r" b="b" t="t" l="l"/>
            <a:pathLst>
              <a:path h="225833" w="422447">
                <a:moveTo>
                  <a:pt x="0" y="0"/>
                </a:moveTo>
                <a:lnTo>
                  <a:pt x="422446" y="0"/>
                </a:lnTo>
                <a:lnTo>
                  <a:pt x="422446" y="225833"/>
                </a:lnTo>
                <a:lnTo>
                  <a:pt x="0" y="225833"/>
                </a:lnTo>
                <a:lnTo>
                  <a:pt x="0" y="0"/>
                </a:lnTo>
                <a:close/>
              </a:path>
            </a:pathLst>
          </a:custGeom>
          <a:blipFill>
            <a:blip r:embed="rId7"/>
            <a:stretch>
              <a:fillRect l="0" t="0" r="0" b="0"/>
            </a:stretch>
          </a:blipFill>
        </p:spPr>
      </p:sp>
      <p:sp>
        <p:nvSpPr>
          <p:cNvPr name="Freeform 12" id="12"/>
          <p:cNvSpPr/>
          <p:nvPr/>
        </p:nvSpPr>
        <p:spPr>
          <a:xfrm flipH="false" flipV="false" rot="0">
            <a:off x="4960837" y="756000"/>
            <a:ext cx="781729" cy="225833"/>
          </a:xfrm>
          <a:custGeom>
            <a:avLst/>
            <a:gdLst/>
            <a:ahLst/>
            <a:cxnLst/>
            <a:rect r="r" b="b" t="t" l="l"/>
            <a:pathLst>
              <a:path h="225833" w="781729">
                <a:moveTo>
                  <a:pt x="0" y="0"/>
                </a:moveTo>
                <a:lnTo>
                  <a:pt x="781730" y="0"/>
                </a:lnTo>
                <a:lnTo>
                  <a:pt x="781730" y="225833"/>
                </a:lnTo>
                <a:lnTo>
                  <a:pt x="0" y="225833"/>
                </a:lnTo>
                <a:lnTo>
                  <a:pt x="0" y="0"/>
                </a:lnTo>
                <a:close/>
              </a:path>
            </a:pathLst>
          </a:custGeom>
          <a:blipFill>
            <a:blip r:embed="rId8"/>
            <a:stretch>
              <a:fillRect l="0" t="0" r="0" b="0"/>
            </a:stretch>
          </a:blipFill>
        </p:spPr>
      </p:sp>
      <p:sp>
        <p:nvSpPr>
          <p:cNvPr name="Freeform 13" id="13"/>
          <p:cNvSpPr/>
          <p:nvPr/>
        </p:nvSpPr>
        <p:spPr>
          <a:xfrm flipH="false" flipV="false" rot="0">
            <a:off x="5990217" y="756000"/>
            <a:ext cx="470485" cy="225833"/>
          </a:xfrm>
          <a:custGeom>
            <a:avLst/>
            <a:gdLst/>
            <a:ahLst/>
            <a:cxnLst/>
            <a:rect r="r" b="b" t="t" l="l"/>
            <a:pathLst>
              <a:path h="225833" w="470485">
                <a:moveTo>
                  <a:pt x="0" y="0"/>
                </a:moveTo>
                <a:lnTo>
                  <a:pt x="470485" y="0"/>
                </a:lnTo>
                <a:lnTo>
                  <a:pt x="470485" y="225833"/>
                </a:lnTo>
                <a:lnTo>
                  <a:pt x="0" y="225833"/>
                </a:lnTo>
                <a:lnTo>
                  <a:pt x="0" y="0"/>
                </a:lnTo>
                <a:close/>
              </a:path>
            </a:pathLst>
          </a:custGeom>
          <a:blipFill>
            <a:blip r:embed="rId9"/>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DAHB19nf6LU</dc:identifier>
  <dcterms:modified xsi:type="dcterms:W3CDTF">2011-08-01T06:04:30Z</dcterms:modified>
  <cp:revision>1</cp:revision>
  <dc:title>Draft Template Proposal 1st Submission Hackathon Digdaya 2026</dc:title>
</cp:coreProperties>
</file>